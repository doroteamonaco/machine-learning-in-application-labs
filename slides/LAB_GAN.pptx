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0" r:id="rId1"/>
  </p:sldMasterIdLst>
  <p:notesMasterIdLst>
    <p:notesMasterId r:id="rId15"/>
  </p:notesMasterIdLst>
  <p:sldIdLst>
    <p:sldId id="434" r:id="rId2"/>
    <p:sldId id="258" r:id="rId3"/>
    <p:sldId id="442" r:id="rId4"/>
    <p:sldId id="443" r:id="rId5"/>
    <p:sldId id="438" r:id="rId6"/>
    <p:sldId id="440" r:id="rId7"/>
    <p:sldId id="439" r:id="rId8"/>
    <p:sldId id="444" r:id="rId9"/>
    <p:sldId id="446" r:id="rId10"/>
    <p:sldId id="445" r:id="rId11"/>
    <p:sldId id="449" r:id="rId12"/>
    <p:sldId id="450" r:id="rId13"/>
    <p:sldId id="44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00" autoAdjust="0"/>
    <p:restoredTop sz="83673"/>
  </p:normalViewPr>
  <p:slideViewPr>
    <p:cSldViewPr snapToGrid="0" snapToObjects="1">
      <p:cViewPr varScale="1">
        <p:scale>
          <a:sx n="136" d="100"/>
          <a:sy n="136" d="100"/>
        </p:scale>
        <p:origin x="556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FEFBD-B2F2-B14C-AD35-564F360BAA08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8E557F-1D95-1843-BA81-09134688E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101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E557F-1D95-1843-BA81-09134688EC4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117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4336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143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0"/>
              </a:spcBef>
            </a:pPr>
            <a:fld id="{BFDD2C53-8076-BF49-9136-A5627810224C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027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4336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143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0"/>
              </a:spcBef>
            </a:pPr>
            <a:fld id="{BFDD2C53-8076-BF49-9136-A5627810224C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85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4336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143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0"/>
              </a:spcBef>
            </a:pPr>
            <a:fld id="{BFDD2C53-8076-BF49-9136-A5627810224C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522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4336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143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0"/>
              </a:spcBef>
            </a:pPr>
            <a:fld id="{BFDD2C53-8076-BF49-9136-A5627810224C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775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4336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143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0"/>
              </a:spcBef>
            </a:pPr>
            <a:fld id="{BFDD2C53-8076-BF49-9136-A5627810224C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8537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4336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143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0"/>
              </a:spcBef>
            </a:pPr>
            <a:fld id="{BFDD2C53-8076-BF49-9136-A5627810224C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8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796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4336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143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0"/>
              </a:spcBef>
            </a:pPr>
            <a:fld id="{BFDD2C53-8076-BF49-9136-A5627810224C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9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679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4336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143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0"/>
              </a:spcBef>
            </a:pPr>
            <a:fld id="{BFDD2C53-8076-BF49-9136-A5627810224C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10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6150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4336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143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0"/>
              </a:spcBef>
            </a:pPr>
            <a:fld id="{BFDD2C53-8076-BF49-9136-A5627810224C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13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4681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4121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6400801"/>
            <a:ext cx="9144000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ML in Applications</a:t>
            </a:r>
            <a:endParaRPr lang="it-IT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2"/>
          </a:xfrm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09866"/>
          </a:xfrm>
        </p:spPr>
        <p:txBody>
          <a:bodyPr/>
          <a:lstStyle>
            <a:lvl1pPr>
              <a:lnSpc>
                <a:spcPct val="85000"/>
              </a:lnSpc>
              <a:defRPr/>
            </a:lvl1pPr>
            <a:lvl2pPr>
              <a:lnSpc>
                <a:spcPct val="85000"/>
              </a:lnSpc>
              <a:defRPr/>
            </a:lvl2pPr>
            <a:lvl3pPr>
              <a:lnSpc>
                <a:spcPct val="85000"/>
              </a:lnSpc>
              <a:defRPr/>
            </a:lvl3pPr>
            <a:lvl4pPr>
              <a:lnSpc>
                <a:spcPct val="85000"/>
              </a:lnSpc>
              <a:defRPr/>
            </a:lvl4pPr>
            <a:lvl5pPr>
              <a:lnSpc>
                <a:spcPct val="8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7326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4032913" cy="4885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E7F78-57DB-4877-ACE4-A1E3B418FD5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/>
            </a:lvl1pPr>
          </a:lstStyle>
          <a:p>
            <a:fld id="{D9309533-C290-4B1B-A9DE-ACC185DAD9D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35691" y="1297674"/>
            <a:ext cx="4032913" cy="4885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6422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100B0-E227-42C2-BF93-3C44C372809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D9309533-C290-4B1B-A9DE-ACC185DAD9D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84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rrowhead 1 column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799891" y="718279"/>
            <a:ext cx="7444935" cy="624590"/>
          </a:xfrm>
          <a:prstGeom prst="rect">
            <a:avLst/>
          </a:prstGeom>
        </p:spPr>
        <p:txBody>
          <a:bodyPr vert="horz"/>
          <a:lstStyle>
            <a:lvl1pPr algn="l">
              <a:defRPr sz="3600" baseline="0"/>
            </a:lvl1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title</a:t>
            </a:r>
            <a:endParaRPr lang="sv-SE" dirty="0"/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10" hasCustomPrompt="1"/>
          </p:nvPr>
        </p:nvSpPr>
        <p:spPr>
          <a:xfrm>
            <a:off x="799891" y="1422183"/>
            <a:ext cx="7444935" cy="4623851"/>
          </a:xfrm>
          <a:prstGeom prst="rect">
            <a:avLst/>
          </a:prstGeom>
        </p:spPr>
        <p:txBody>
          <a:bodyPr vert="horz"/>
          <a:lstStyle>
            <a:lvl1pPr marL="268288" indent="-268288">
              <a:buFontTx/>
              <a:buNone/>
              <a:defRPr sz="2000"/>
            </a:lvl1pPr>
            <a:lvl2pPr marL="742950" indent="-285750">
              <a:buFont typeface="Arial"/>
              <a:buChar char="•"/>
              <a:defRPr sz="1800"/>
            </a:lvl2pPr>
            <a:lvl3pPr>
              <a:defRPr sz="1600"/>
            </a:lvl3pPr>
            <a:lvl4pPr marL="1600200" indent="-228600">
              <a:buFont typeface="Arial"/>
              <a:buChar char="•"/>
              <a:defRPr sz="1400"/>
            </a:lvl4pPr>
            <a:lvl5pPr marL="2057400" indent="-228600">
              <a:buFont typeface="Arial"/>
              <a:buChar char="•"/>
              <a:defRPr sz="1200" baseline="0"/>
            </a:lvl5pPr>
          </a:lstStyle>
          <a:p>
            <a:pPr lvl="0"/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edit</a:t>
            </a:r>
            <a:r>
              <a:rPr lang="sv-SE" dirty="0"/>
              <a:t> text</a:t>
            </a:r>
          </a:p>
          <a:p>
            <a:pPr lvl="1"/>
            <a:r>
              <a:rPr lang="sv-SE" dirty="0"/>
              <a:t>Second </a:t>
            </a:r>
            <a:r>
              <a:rPr lang="sv-SE" dirty="0" err="1"/>
              <a:t>level</a:t>
            </a:r>
            <a:endParaRPr lang="sv-SE" dirty="0"/>
          </a:p>
          <a:p>
            <a:pPr lvl="2"/>
            <a:r>
              <a:rPr lang="sv-SE" dirty="0" err="1"/>
              <a:t>Third</a:t>
            </a:r>
            <a:r>
              <a:rPr lang="sv-SE" dirty="0"/>
              <a:t> </a:t>
            </a:r>
            <a:r>
              <a:rPr lang="sv-SE" dirty="0" err="1"/>
              <a:t>level</a:t>
            </a:r>
            <a:endParaRPr lang="sv-SE" dirty="0"/>
          </a:p>
          <a:p>
            <a:pPr lvl="3"/>
            <a:r>
              <a:rPr lang="sv-SE" dirty="0" err="1"/>
              <a:t>Fourth</a:t>
            </a:r>
            <a:r>
              <a:rPr lang="sv-SE" dirty="0"/>
              <a:t> </a:t>
            </a:r>
            <a:r>
              <a:rPr lang="sv-SE" dirty="0" err="1"/>
              <a:t>level</a:t>
            </a:r>
            <a:endParaRPr lang="sv-SE" dirty="0"/>
          </a:p>
          <a:p>
            <a:pPr lvl="4"/>
            <a:r>
              <a:rPr lang="sv-SE" dirty="0" err="1"/>
              <a:t>Fifth</a:t>
            </a:r>
            <a:r>
              <a:rPr lang="sv-SE" dirty="0"/>
              <a:t> </a:t>
            </a:r>
            <a:r>
              <a:rPr lang="sv-SE" dirty="0" err="1"/>
              <a:t>level</a:t>
            </a:r>
            <a:endParaRPr lang="sv-SE" dirty="0"/>
          </a:p>
        </p:txBody>
      </p:sp>
      <p:sp>
        <p:nvSpPr>
          <p:cNvPr id="3" name="Platshållare för bild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939B3E-C388-DC4F-B31A-4B360DF27421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5" name="textruta 4"/>
          <p:cNvSpPr txBox="1"/>
          <p:nvPr userDrawn="1"/>
        </p:nvSpPr>
        <p:spPr>
          <a:xfrm>
            <a:off x="374549" y="6201910"/>
            <a:ext cx="3966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800" dirty="0" err="1">
                <a:solidFill>
                  <a:prstClr val="black"/>
                </a:solidFill>
              </a:rPr>
              <a:t>www.arrowhead.eu</a:t>
            </a:r>
            <a:endParaRPr lang="sv-SE" sz="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895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16635"/>
            <a:ext cx="8229600" cy="92636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64776"/>
            <a:ext cx="8229600" cy="48858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B2C4A-8B7E-446C-8D8F-EC128F0F36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09533-C290-4B1B-A9DE-ACC185DAD9D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27324" y="6479227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2060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780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</p:sldLayoutIdLst>
  <p:transition spd="slow">
    <p:wipe dir="r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lang="it-IT" sz="3600" b="1" kern="1200">
          <a:solidFill>
            <a:schemeClr val="tx1"/>
          </a:solidFill>
          <a:latin typeface="Cambria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85000"/>
        </a:lnSpc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85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85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85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85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066800"/>
            <a:ext cx="7772400" cy="2228851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lvl="0"/>
            <a:r>
              <a:rPr lang="en-GB" i="1" dirty="0">
                <a:solidFill>
                  <a:schemeClr val="tx2">
                    <a:lumMod val="50000"/>
                  </a:schemeClr>
                </a:solidFill>
              </a:rPr>
              <a:t>ML </a:t>
            </a:r>
            <a:r>
              <a:rPr lang="en-GB" i="1">
                <a:solidFill>
                  <a:schemeClr val="tx2">
                    <a:lumMod val="50000"/>
                  </a:schemeClr>
                </a:solidFill>
              </a:rPr>
              <a:t>in Applications</a:t>
            </a:r>
            <a:endParaRPr lang="it-IT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9255" y="3603068"/>
            <a:ext cx="6463145" cy="1363281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/>
          </a:bodyPr>
          <a:lstStyle/>
          <a:p>
            <a:endParaRPr lang="en-US" sz="2400" b="1" i="1" dirty="0">
              <a:solidFill>
                <a:schemeClr val="accent2">
                  <a:lumMod val="75000"/>
                </a:schemeClr>
              </a:solidFill>
              <a:latin typeface="Cambria" pitchFamily="18" charset="0"/>
            </a:endParaRPr>
          </a:p>
          <a:p>
            <a:r>
              <a:rPr lang="en-US" sz="2400" b="1" i="1" dirty="0" err="1">
                <a:solidFill>
                  <a:schemeClr val="accent2">
                    <a:lumMod val="75000"/>
                  </a:schemeClr>
                </a:solidFill>
                <a:latin typeface="Cambria" pitchFamily="18" charset="0"/>
              </a:rPr>
              <a:t>Dipartimento</a:t>
            </a:r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  <a:latin typeface="Cambria" pitchFamily="18" charset="0"/>
              </a:rPr>
              <a:t> di Automatica e Informatica </a:t>
            </a:r>
          </a:p>
          <a:p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  <a:latin typeface="Cambria" pitchFamily="18" charset="0"/>
              </a:rPr>
              <a:t>Politecnico di Torino, Torino, ITALY</a:t>
            </a:r>
            <a:endParaRPr lang="it-IT" sz="2400" b="1" i="1" dirty="0">
              <a:solidFill>
                <a:schemeClr val="accent2">
                  <a:lumMod val="75000"/>
                </a:schemeClr>
              </a:solidFill>
              <a:latin typeface="Cambria" pitchFamily="18" charset="0"/>
            </a:endParaRPr>
          </a:p>
        </p:txBody>
      </p:sp>
      <p:pic>
        <p:nvPicPr>
          <p:cNvPr id="18434" name="Picture 2" descr="Logo_Poli_trasparent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5035624"/>
            <a:ext cx="1529588" cy="15245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02993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0734" y="1917405"/>
            <a:ext cx="7772400" cy="2228851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r>
              <a:rPr lang="it-IT" dirty="0"/>
              <a:t>Generative Adversarial Networks</a:t>
            </a:r>
          </a:p>
        </p:txBody>
      </p:sp>
    </p:spTree>
    <p:extLst>
      <p:ext uri="{BB962C8B-B14F-4D97-AF65-F5344CB8AC3E}">
        <p14:creationId xmlns:p14="http://schemas.microsoft.com/office/powerpoint/2010/main" val="3325099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Title 4"/>
          <p:cNvSpPr>
            <a:spLocks noGrp="1"/>
          </p:cNvSpPr>
          <p:nvPr>
            <p:ph type="title"/>
          </p:nvPr>
        </p:nvSpPr>
        <p:spPr>
          <a:xfrm>
            <a:off x="457200" y="221542"/>
            <a:ext cx="8229600" cy="917941"/>
          </a:xfrm>
        </p:spPr>
        <p:txBody>
          <a:bodyPr>
            <a:normAutofit/>
          </a:bodyPr>
          <a:lstStyle/>
          <a:p>
            <a:r>
              <a:rPr lang="it-IT"/>
              <a:t>Naive</a:t>
            </a:r>
            <a:endParaRPr lang="it-IT" dirty="0"/>
          </a:p>
        </p:txBody>
      </p:sp>
      <p:sp>
        <p:nvSpPr>
          <p:cNvPr id="4" name="TextBox 3"/>
          <p:cNvSpPr txBox="1"/>
          <p:nvPr/>
        </p:nvSpPr>
        <p:spPr>
          <a:xfrm>
            <a:off x="7315200" y="6581775"/>
            <a:ext cx="181292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>
                    <a:lumMod val="65000"/>
                  </a:srgbClr>
                </a:solidFill>
              </a:rPr>
              <a:t>Slide credit: L. </a:t>
            </a:r>
            <a:r>
              <a:rPr lang="en-US" sz="1200" dirty="0" err="1">
                <a:solidFill>
                  <a:srgbClr val="FFFFFF">
                    <a:lumMod val="65000"/>
                  </a:srgbClr>
                </a:solidFill>
              </a:rPr>
              <a:t>Lazebnik</a:t>
            </a:r>
            <a:endParaRPr lang="en-US" sz="1200" dirty="0">
              <a:solidFill>
                <a:srgbClr val="FFFFFF">
                  <a:lumMod val="65000"/>
                </a:srgb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CED727-8FD8-B3DE-3AD5-E3B90AE92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926" y="3728955"/>
            <a:ext cx="2257864" cy="2257864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64170138-4EBC-2570-E5B7-D6E9684DE5C0}"/>
              </a:ext>
            </a:extLst>
          </p:cNvPr>
          <p:cNvSpPr/>
          <p:nvPr/>
        </p:nvSpPr>
        <p:spPr>
          <a:xfrm>
            <a:off x="5799408" y="4178105"/>
            <a:ext cx="70339" cy="84406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4228A7-3068-A0DF-071A-8D4D5F1E4ACF}"/>
              </a:ext>
            </a:extLst>
          </p:cNvPr>
          <p:cNvSpPr/>
          <p:nvPr/>
        </p:nvSpPr>
        <p:spPr>
          <a:xfrm>
            <a:off x="4842219" y="2022597"/>
            <a:ext cx="1097279" cy="917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600" b="1" dirty="0"/>
              <a:t>MSE</a:t>
            </a:r>
            <a:endParaRPr lang="it-IT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B41F69-2C84-7EE5-C147-C14A90FEDEF5}"/>
              </a:ext>
            </a:extLst>
          </p:cNvPr>
          <p:cNvCxnSpPr>
            <a:cxnSpLocks/>
            <a:stCxn id="3" idx="0"/>
            <a:endCxn id="8" idx="2"/>
          </p:cNvCxnSpPr>
          <p:nvPr/>
        </p:nvCxnSpPr>
        <p:spPr>
          <a:xfrm flipV="1">
            <a:off x="5390858" y="2940538"/>
            <a:ext cx="1" cy="78841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D63D6B3-4B1C-8F96-EEF5-11F3C3C2C7A7}"/>
              </a:ext>
            </a:extLst>
          </p:cNvPr>
          <p:cNvSpPr/>
          <p:nvPr/>
        </p:nvSpPr>
        <p:spPr>
          <a:xfrm>
            <a:off x="2537753" y="2019446"/>
            <a:ext cx="1818250" cy="917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600" b="1" dirty="0"/>
              <a:t>Decoder</a:t>
            </a:r>
            <a:endParaRPr lang="it-IT" b="1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FEF07D-5855-5E81-9E0E-87D5ADB3D504}"/>
              </a:ext>
            </a:extLst>
          </p:cNvPr>
          <p:cNvCxnSpPr>
            <a:cxnSpLocks/>
            <a:stCxn id="22" idx="3"/>
            <a:endCxn id="8" idx="1"/>
          </p:cNvCxnSpPr>
          <p:nvPr/>
        </p:nvCxnSpPr>
        <p:spPr>
          <a:xfrm>
            <a:off x="4356003" y="2478417"/>
            <a:ext cx="486216" cy="315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34833C37-4A70-87F1-ECD4-B5BB36B62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87915"/>
            <a:ext cx="1594338" cy="1594338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388A5C3-5429-955C-991C-C6C832A75F04}"/>
              </a:ext>
            </a:extLst>
          </p:cNvPr>
          <p:cNvCxnSpPr>
            <a:cxnSpLocks/>
            <a:stCxn id="25" idx="3"/>
            <a:endCxn id="22" idx="1"/>
          </p:cNvCxnSpPr>
          <p:nvPr/>
        </p:nvCxnSpPr>
        <p:spPr>
          <a:xfrm flipV="1">
            <a:off x="2051538" y="2478417"/>
            <a:ext cx="486215" cy="666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57" name="Oval 2056">
            <a:extLst>
              <a:ext uri="{FF2B5EF4-FFF2-40B4-BE49-F238E27FC236}">
                <a16:creationId xmlns:a16="http://schemas.microsoft.com/office/drawing/2014/main" id="{C81121D5-114D-4A37-571B-71E552F1D2FC}"/>
              </a:ext>
            </a:extLst>
          </p:cNvPr>
          <p:cNvSpPr/>
          <p:nvPr/>
        </p:nvSpPr>
        <p:spPr>
          <a:xfrm>
            <a:off x="1186407" y="2445436"/>
            <a:ext cx="70339" cy="84406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8630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Title 4"/>
          <p:cNvSpPr>
            <a:spLocks noGrp="1"/>
          </p:cNvSpPr>
          <p:nvPr>
            <p:ph type="title"/>
          </p:nvPr>
        </p:nvSpPr>
        <p:spPr>
          <a:xfrm>
            <a:off x="457200" y="221542"/>
            <a:ext cx="8229600" cy="917941"/>
          </a:xfrm>
        </p:spPr>
        <p:txBody>
          <a:bodyPr>
            <a:normAutofit/>
          </a:bodyPr>
          <a:lstStyle/>
          <a:p>
            <a:r>
              <a:rPr lang="it-IT" dirty="0"/>
              <a:t>VAE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581775"/>
            <a:ext cx="181292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>
                    <a:lumMod val="65000"/>
                  </a:srgbClr>
                </a:solidFill>
              </a:rPr>
              <a:t>Slide credit: L. </a:t>
            </a:r>
            <a:r>
              <a:rPr lang="en-US" sz="1200" dirty="0" err="1">
                <a:solidFill>
                  <a:srgbClr val="FFFFFF">
                    <a:lumMod val="65000"/>
                  </a:srgbClr>
                </a:solidFill>
              </a:rPr>
              <a:t>Lazebnik</a:t>
            </a:r>
            <a:endParaRPr lang="en-US" sz="1200" dirty="0">
              <a:solidFill>
                <a:srgbClr val="FFFFFF">
                  <a:lumMod val="65000"/>
                </a:srgb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CED727-8FD8-B3DE-3AD5-E3B90AE92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926" y="3728955"/>
            <a:ext cx="2257864" cy="2257864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64170138-4EBC-2570-E5B7-D6E9684DE5C0}"/>
              </a:ext>
            </a:extLst>
          </p:cNvPr>
          <p:cNvSpPr/>
          <p:nvPr/>
        </p:nvSpPr>
        <p:spPr>
          <a:xfrm>
            <a:off x="5799408" y="4178105"/>
            <a:ext cx="70339" cy="84406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4228A7-3068-A0DF-071A-8D4D5F1E4ACF}"/>
              </a:ext>
            </a:extLst>
          </p:cNvPr>
          <p:cNvSpPr/>
          <p:nvPr/>
        </p:nvSpPr>
        <p:spPr>
          <a:xfrm>
            <a:off x="4842219" y="2022597"/>
            <a:ext cx="1097279" cy="917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600" b="1" dirty="0"/>
              <a:t>MSE</a:t>
            </a:r>
            <a:endParaRPr lang="it-IT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B41F69-2C84-7EE5-C147-C14A90FEDEF5}"/>
              </a:ext>
            </a:extLst>
          </p:cNvPr>
          <p:cNvCxnSpPr>
            <a:cxnSpLocks/>
            <a:stCxn id="3" idx="0"/>
            <a:endCxn id="8" idx="2"/>
          </p:cNvCxnSpPr>
          <p:nvPr/>
        </p:nvCxnSpPr>
        <p:spPr>
          <a:xfrm flipV="1">
            <a:off x="5390858" y="2940538"/>
            <a:ext cx="1" cy="78841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D63D6B3-4B1C-8F96-EEF5-11F3C3C2C7A7}"/>
              </a:ext>
            </a:extLst>
          </p:cNvPr>
          <p:cNvSpPr/>
          <p:nvPr/>
        </p:nvSpPr>
        <p:spPr>
          <a:xfrm>
            <a:off x="2537753" y="2019446"/>
            <a:ext cx="1818250" cy="917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600" b="1" dirty="0"/>
              <a:t>Decoder</a:t>
            </a:r>
            <a:endParaRPr lang="it-IT" b="1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FEF07D-5855-5E81-9E0E-87D5ADB3D504}"/>
              </a:ext>
            </a:extLst>
          </p:cNvPr>
          <p:cNvCxnSpPr>
            <a:cxnSpLocks/>
            <a:stCxn id="22" idx="3"/>
            <a:endCxn id="8" idx="1"/>
          </p:cNvCxnSpPr>
          <p:nvPr/>
        </p:nvCxnSpPr>
        <p:spPr>
          <a:xfrm>
            <a:off x="4356003" y="2478417"/>
            <a:ext cx="486216" cy="315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34833C37-4A70-87F1-ECD4-B5BB36B62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87915"/>
            <a:ext cx="1594338" cy="1594338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388A5C3-5429-955C-991C-C6C832A75F04}"/>
              </a:ext>
            </a:extLst>
          </p:cNvPr>
          <p:cNvCxnSpPr>
            <a:cxnSpLocks/>
            <a:stCxn id="25" idx="3"/>
            <a:endCxn id="22" idx="1"/>
          </p:cNvCxnSpPr>
          <p:nvPr/>
        </p:nvCxnSpPr>
        <p:spPr>
          <a:xfrm flipV="1">
            <a:off x="2051538" y="2478417"/>
            <a:ext cx="486215" cy="666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57" name="Oval 2056">
            <a:extLst>
              <a:ext uri="{FF2B5EF4-FFF2-40B4-BE49-F238E27FC236}">
                <a16:creationId xmlns:a16="http://schemas.microsoft.com/office/drawing/2014/main" id="{C81121D5-114D-4A37-571B-71E552F1D2FC}"/>
              </a:ext>
            </a:extLst>
          </p:cNvPr>
          <p:cNvSpPr/>
          <p:nvPr/>
        </p:nvSpPr>
        <p:spPr>
          <a:xfrm>
            <a:off x="1186407" y="2445436"/>
            <a:ext cx="70339" cy="84406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AD8C46-9BD4-CE8B-2342-DC084158A811}"/>
              </a:ext>
            </a:extLst>
          </p:cNvPr>
          <p:cNvSpPr/>
          <p:nvPr/>
        </p:nvSpPr>
        <p:spPr>
          <a:xfrm>
            <a:off x="347621" y="4398917"/>
            <a:ext cx="1818250" cy="917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600" b="1" dirty="0"/>
              <a:t>Encoder</a:t>
            </a:r>
            <a:endParaRPr lang="it-IT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8AE2172-8CBA-C223-CF8E-576675C01DB6}"/>
              </a:ext>
            </a:extLst>
          </p:cNvPr>
          <p:cNvCxnSpPr>
            <a:cxnSpLocks/>
            <a:stCxn id="3" idx="1"/>
            <a:endCxn id="2" idx="3"/>
          </p:cNvCxnSpPr>
          <p:nvPr/>
        </p:nvCxnSpPr>
        <p:spPr>
          <a:xfrm flipH="1">
            <a:off x="2165871" y="4857887"/>
            <a:ext cx="2096055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5930A9D-A540-2119-51EB-BE5A4D92B31F}"/>
              </a:ext>
            </a:extLst>
          </p:cNvPr>
          <p:cNvCxnSpPr>
            <a:cxnSpLocks/>
            <a:stCxn id="2" idx="0"/>
            <a:endCxn id="25" idx="2"/>
          </p:cNvCxnSpPr>
          <p:nvPr/>
        </p:nvCxnSpPr>
        <p:spPr>
          <a:xfrm flipH="1" flipV="1">
            <a:off x="1254369" y="3282253"/>
            <a:ext cx="2377" cy="111666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703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Title 4"/>
          <p:cNvSpPr>
            <a:spLocks noGrp="1"/>
          </p:cNvSpPr>
          <p:nvPr>
            <p:ph type="title"/>
          </p:nvPr>
        </p:nvSpPr>
        <p:spPr>
          <a:xfrm>
            <a:off x="457200" y="221542"/>
            <a:ext cx="8229600" cy="917941"/>
          </a:xfrm>
        </p:spPr>
        <p:txBody>
          <a:bodyPr>
            <a:normAutofit/>
          </a:bodyPr>
          <a:lstStyle/>
          <a:p>
            <a:r>
              <a:rPr lang="it-IT" dirty="0"/>
              <a:t>Ideal Loss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581775"/>
            <a:ext cx="181292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>
                    <a:lumMod val="65000"/>
                  </a:srgbClr>
                </a:solidFill>
              </a:rPr>
              <a:t>Slide credit: L. </a:t>
            </a:r>
            <a:r>
              <a:rPr lang="en-US" sz="1200" dirty="0" err="1">
                <a:solidFill>
                  <a:srgbClr val="FFFFFF">
                    <a:lumMod val="65000"/>
                  </a:srgbClr>
                </a:solidFill>
              </a:rPr>
              <a:t>Lazebnik</a:t>
            </a:r>
            <a:endParaRPr lang="en-US" sz="1200" dirty="0">
              <a:solidFill>
                <a:srgbClr val="FFFFFF">
                  <a:lumMod val="65000"/>
                </a:srgbClr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E34E8DB-327B-DFB6-2097-DE13DA510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115" y="2073837"/>
            <a:ext cx="2257864" cy="2381250"/>
          </a:xfrm>
          <a:prstGeom prst="rect">
            <a:avLst/>
          </a:prstGeom>
        </p:spPr>
      </p:pic>
      <p:cxnSp>
        <p:nvCxnSpPr>
          <p:cNvPr id="2071" name="Straight Arrow Connector 2070">
            <a:extLst>
              <a:ext uri="{FF2B5EF4-FFF2-40B4-BE49-F238E27FC236}">
                <a16:creationId xmlns:a16="http://schemas.microsoft.com/office/drawing/2014/main" id="{E612CC58-CCFE-0649-2E2E-86BD3F3D3A9B}"/>
              </a:ext>
            </a:extLst>
          </p:cNvPr>
          <p:cNvCxnSpPr>
            <a:cxnSpLocks/>
            <a:stCxn id="2072" idx="3"/>
          </p:cNvCxnSpPr>
          <p:nvPr/>
        </p:nvCxnSpPr>
        <p:spPr>
          <a:xfrm>
            <a:off x="4356003" y="3327168"/>
            <a:ext cx="2006112" cy="315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52F978E4-DF67-CBE9-BB8A-BE40F1931660}"/>
              </a:ext>
            </a:extLst>
          </p:cNvPr>
          <p:cNvSpPr/>
          <p:nvPr/>
        </p:nvSpPr>
        <p:spPr>
          <a:xfrm>
            <a:off x="2537753" y="2868197"/>
            <a:ext cx="1818250" cy="917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600" b="1" dirty="0"/>
              <a:t>Decoder</a:t>
            </a:r>
            <a:endParaRPr lang="it-IT" b="1" dirty="0"/>
          </a:p>
        </p:txBody>
      </p:sp>
      <p:pic>
        <p:nvPicPr>
          <p:cNvPr id="2074" name="Picture 2073">
            <a:extLst>
              <a:ext uri="{FF2B5EF4-FFF2-40B4-BE49-F238E27FC236}">
                <a16:creationId xmlns:a16="http://schemas.microsoft.com/office/drawing/2014/main" id="{8040C015-E556-F34E-6DEA-B5D978FE3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36666"/>
            <a:ext cx="1594338" cy="1594338"/>
          </a:xfrm>
          <a:prstGeom prst="rect">
            <a:avLst/>
          </a:prstGeom>
        </p:spPr>
      </p:pic>
      <p:cxnSp>
        <p:nvCxnSpPr>
          <p:cNvPr id="2075" name="Straight Arrow Connector 2074">
            <a:extLst>
              <a:ext uri="{FF2B5EF4-FFF2-40B4-BE49-F238E27FC236}">
                <a16:creationId xmlns:a16="http://schemas.microsoft.com/office/drawing/2014/main" id="{8DC716DA-0125-CB6F-1A04-6E38A19847DA}"/>
              </a:ext>
            </a:extLst>
          </p:cNvPr>
          <p:cNvCxnSpPr>
            <a:cxnSpLocks/>
            <a:stCxn id="2074" idx="3"/>
            <a:endCxn id="2072" idx="1"/>
          </p:cNvCxnSpPr>
          <p:nvPr/>
        </p:nvCxnSpPr>
        <p:spPr>
          <a:xfrm flipV="1">
            <a:off x="2051538" y="3327168"/>
            <a:ext cx="486215" cy="666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76" name="Oval 2075">
            <a:extLst>
              <a:ext uri="{FF2B5EF4-FFF2-40B4-BE49-F238E27FC236}">
                <a16:creationId xmlns:a16="http://schemas.microsoft.com/office/drawing/2014/main" id="{D0F10E49-F248-F62A-C035-F321CD96884E}"/>
              </a:ext>
            </a:extLst>
          </p:cNvPr>
          <p:cNvSpPr/>
          <p:nvPr/>
        </p:nvSpPr>
        <p:spPr>
          <a:xfrm>
            <a:off x="1191093" y="3301216"/>
            <a:ext cx="70339" cy="84406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608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Title 4"/>
          <p:cNvSpPr>
            <a:spLocks noGrp="1"/>
          </p:cNvSpPr>
          <p:nvPr>
            <p:ph type="title"/>
          </p:nvPr>
        </p:nvSpPr>
        <p:spPr>
          <a:xfrm>
            <a:off x="457200" y="221542"/>
            <a:ext cx="8229600" cy="917941"/>
          </a:xfrm>
        </p:spPr>
        <p:txBody>
          <a:bodyPr>
            <a:normAutofit/>
          </a:bodyPr>
          <a:lstStyle/>
          <a:p>
            <a:r>
              <a:rPr lang="it-IT" dirty="0"/>
              <a:t>Ideal Loss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581775"/>
            <a:ext cx="181292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>
                    <a:lumMod val="65000"/>
                  </a:srgbClr>
                </a:solidFill>
              </a:rPr>
              <a:t>Slide credit: L. </a:t>
            </a:r>
            <a:r>
              <a:rPr lang="en-US" sz="1200" dirty="0" err="1">
                <a:solidFill>
                  <a:srgbClr val="FFFFFF">
                    <a:lumMod val="65000"/>
                  </a:srgbClr>
                </a:solidFill>
              </a:rPr>
              <a:t>Lazebnik</a:t>
            </a:r>
            <a:endParaRPr lang="en-US" sz="1200" dirty="0">
              <a:solidFill>
                <a:srgbClr val="FFFFFF">
                  <a:lumMod val="65000"/>
                </a:srgb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CED727-8FD8-B3DE-3AD5-E3B90AE920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115" y="1352636"/>
            <a:ext cx="2257864" cy="2257864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64170138-4EBC-2570-E5B7-D6E9684DE5C0}"/>
              </a:ext>
            </a:extLst>
          </p:cNvPr>
          <p:cNvSpPr/>
          <p:nvPr/>
        </p:nvSpPr>
        <p:spPr>
          <a:xfrm>
            <a:off x="7899012" y="1793631"/>
            <a:ext cx="70339" cy="84406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4228A7-3068-A0DF-071A-8D4D5F1E4ACF}"/>
              </a:ext>
            </a:extLst>
          </p:cNvPr>
          <p:cNvSpPr/>
          <p:nvPr/>
        </p:nvSpPr>
        <p:spPr>
          <a:xfrm>
            <a:off x="4842219" y="2022597"/>
            <a:ext cx="1097279" cy="917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600" b="1" dirty="0"/>
              <a:t>MSE</a:t>
            </a:r>
            <a:endParaRPr lang="it-IT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B41F69-2C84-7EE5-C147-C14A90FEDEF5}"/>
              </a:ext>
            </a:extLst>
          </p:cNvPr>
          <p:cNvCxnSpPr>
            <a:cxnSpLocks/>
            <a:stCxn id="3" idx="1"/>
            <a:endCxn id="8" idx="3"/>
          </p:cNvCxnSpPr>
          <p:nvPr/>
        </p:nvCxnSpPr>
        <p:spPr>
          <a:xfrm flipH="1">
            <a:off x="5939498" y="2481568"/>
            <a:ext cx="42261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5E34E8DB-327B-DFB6-2097-DE13DA510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115" y="3761960"/>
            <a:ext cx="2257864" cy="23812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D63D6B3-4B1C-8F96-EEF5-11F3C3C2C7A7}"/>
              </a:ext>
            </a:extLst>
          </p:cNvPr>
          <p:cNvSpPr/>
          <p:nvPr/>
        </p:nvSpPr>
        <p:spPr>
          <a:xfrm>
            <a:off x="2537753" y="2019446"/>
            <a:ext cx="1818250" cy="917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600" b="1" dirty="0"/>
              <a:t>Decoder</a:t>
            </a:r>
            <a:endParaRPr lang="it-IT" b="1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FEF07D-5855-5E81-9E0E-87D5ADB3D504}"/>
              </a:ext>
            </a:extLst>
          </p:cNvPr>
          <p:cNvCxnSpPr>
            <a:cxnSpLocks/>
            <a:stCxn id="22" idx="3"/>
            <a:endCxn id="8" idx="1"/>
          </p:cNvCxnSpPr>
          <p:nvPr/>
        </p:nvCxnSpPr>
        <p:spPr>
          <a:xfrm>
            <a:off x="4356003" y="2478417"/>
            <a:ext cx="486216" cy="315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34833C37-4A70-87F1-ECD4-B5BB36B627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687915"/>
            <a:ext cx="1594338" cy="1594338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388A5C3-5429-955C-991C-C6C832A75F04}"/>
              </a:ext>
            </a:extLst>
          </p:cNvPr>
          <p:cNvCxnSpPr>
            <a:cxnSpLocks/>
            <a:stCxn id="25" idx="3"/>
            <a:endCxn id="22" idx="1"/>
          </p:cNvCxnSpPr>
          <p:nvPr/>
        </p:nvCxnSpPr>
        <p:spPr>
          <a:xfrm flipV="1">
            <a:off x="2051538" y="2478417"/>
            <a:ext cx="486215" cy="666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57" name="Oval 2056">
            <a:extLst>
              <a:ext uri="{FF2B5EF4-FFF2-40B4-BE49-F238E27FC236}">
                <a16:creationId xmlns:a16="http://schemas.microsoft.com/office/drawing/2014/main" id="{C81121D5-114D-4A37-571B-71E552F1D2FC}"/>
              </a:ext>
            </a:extLst>
          </p:cNvPr>
          <p:cNvSpPr/>
          <p:nvPr/>
        </p:nvSpPr>
        <p:spPr>
          <a:xfrm>
            <a:off x="1186407" y="2445436"/>
            <a:ext cx="70339" cy="84406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071" name="Straight Arrow Connector 2070">
            <a:extLst>
              <a:ext uri="{FF2B5EF4-FFF2-40B4-BE49-F238E27FC236}">
                <a16:creationId xmlns:a16="http://schemas.microsoft.com/office/drawing/2014/main" id="{E612CC58-CCFE-0649-2E2E-86BD3F3D3A9B}"/>
              </a:ext>
            </a:extLst>
          </p:cNvPr>
          <p:cNvCxnSpPr>
            <a:cxnSpLocks/>
            <a:stCxn id="2072" idx="3"/>
          </p:cNvCxnSpPr>
          <p:nvPr/>
        </p:nvCxnSpPr>
        <p:spPr>
          <a:xfrm>
            <a:off x="4356003" y="5015291"/>
            <a:ext cx="2006112" cy="315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52F978E4-DF67-CBE9-BB8A-BE40F1931660}"/>
              </a:ext>
            </a:extLst>
          </p:cNvPr>
          <p:cNvSpPr/>
          <p:nvPr/>
        </p:nvSpPr>
        <p:spPr>
          <a:xfrm>
            <a:off x="2537753" y="4556320"/>
            <a:ext cx="1818250" cy="9179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600" b="1" dirty="0"/>
              <a:t>Decoder</a:t>
            </a:r>
            <a:endParaRPr lang="it-IT" b="1" dirty="0"/>
          </a:p>
        </p:txBody>
      </p:sp>
      <p:pic>
        <p:nvPicPr>
          <p:cNvPr id="2074" name="Picture 2073">
            <a:extLst>
              <a:ext uri="{FF2B5EF4-FFF2-40B4-BE49-F238E27FC236}">
                <a16:creationId xmlns:a16="http://schemas.microsoft.com/office/drawing/2014/main" id="{8040C015-E556-F34E-6DEA-B5D978FE32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224789"/>
            <a:ext cx="1594338" cy="1594338"/>
          </a:xfrm>
          <a:prstGeom prst="rect">
            <a:avLst/>
          </a:prstGeom>
        </p:spPr>
      </p:pic>
      <p:cxnSp>
        <p:nvCxnSpPr>
          <p:cNvPr id="2075" name="Straight Arrow Connector 2074">
            <a:extLst>
              <a:ext uri="{FF2B5EF4-FFF2-40B4-BE49-F238E27FC236}">
                <a16:creationId xmlns:a16="http://schemas.microsoft.com/office/drawing/2014/main" id="{8DC716DA-0125-CB6F-1A04-6E38A19847DA}"/>
              </a:ext>
            </a:extLst>
          </p:cNvPr>
          <p:cNvCxnSpPr>
            <a:cxnSpLocks/>
            <a:stCxn id="2074" idx="3"/>
            <a:endCxn id="2072" idx="1"/>
          </p:cNvCxnSpPr>
          <p:nvPr/>
        </p:nvCxnSpPr>
        <p:spPr>
          <a:xfrm flipV="1">
            <a:off x="2051538" y="5015291"/>
            <a:ext cx="486215" cy="666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76" name="Oval 2075">
            <a:extLst>
              <a:ext uri="{FF2B5EF4-FFF2-40B4-BE49-F238E27FC236}">
                <a16:creationId xmlns:a16="http://schemas.microsoft.com/office/drawing/2014/main" id="{D0F10E49-F248-F62A-C035-F321CD96884E}"/>
              </a:ext>
            </a:extLst>
          </p:cNvPr>
          <p:cNvSpPr/>
          <p:nvPr/>
        </p:nvSpPr>
        <p:spPr>
          <a:xfrm>
            <a:off x="1191093" y="4989339"/>
            <a:ext cx="70339" cy="84406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2336" name="Oval 142335">
            <a:extLst>
              <a:ext uri="{FF2B5EF4-FFF2-40B4-BE49-F238E27FC236}">
                <a16:creationId xmlns:a16="http://schemas.microsoft.com/office/drawing/2014/main" id="{87AEDCCE-404B-CD51-03A7-BCF260A7BDA6}"/>
              </a:ext>
            </a:extLst>
          </p:cNvPr>
          <p:cNvSpPr/>
          <p:nvPr/>
        </p:nvSpPr>
        <p:spPr>
          <a:xfrm>
            <a:off x="4783308" y="3654108"/>
            <a:ext cx="1367498" cy="66897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</a:t>
            </a:r>
            <a:endParaRPr lang="it-IT" dirty="0"/>
          </a:p>
        </p:txBody>
      </p:sp>
      <p:sp>
        <p:nvSpPr>
          <p:cNvPr id="142338" name="Oval 142337">
            <a:extLst>
              <a:ext uri="{FF2B5EF4-FFF2-40B4-BE49-F238E27FC236}">
                <a16:creationId xmlns:a16="http://schemas.microsoft.com/office/drawing/2014/main" id="{7AD3C7EE-AB16-9D44-039B-8F048D5B86D0}"/>
              </a:ext>
            </a:extLst>
          </p:cNvPr>
          <p:cNvSpPr/>
          <p:nvPr/>
        </p:nvSpPr>
        <p:spPr>
          <a:xfrm>
            <a:off x="4675310" y="1223175"/>
            <a:ext cx="1367498" cy="66897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Easy</a:t>
            </a:r>
            <a:endParaRPr lang="it-IT" dirty="0"/>
          </a:p>
        </p:txBody>
      </p:sp>
      <p:cxnSp>
        <p:nvCxnSpPr>
          <p:cNvPr id="142340" name="Straight Arrow Connector 142339">
            <a:extLst>
              <a:ext uri="{FF2B5EF4-FFF2-40B4-BE49-F238E27FC236}">
                <a16:creationId xmlns:a16="http://schemas.microsoft.com/office/drawing/2014/main" id="{4AFDFEBA-8489-EA6B-2F63-ECB427A9A46D}"/>
              </a:ext>
            </a:extLst>
          </p:cNvPr>
          <p:cNvCxnSpPr>
            <a:stCxn id="142338" idx="6"/>
          </p:cNvCxnSpPr>
          <p:nvPr/>
        </p:nvCxnSpPr>
        <p:spPr>
          <a:xfrm>
            <a:off x="6042808" y="1557661"/>
            <a:ext cx="319307" cy="3981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2341" name="Straight Arrow Connector 142340">
            <a:extLst>
              <a:ext uri="{FF2B5EF4-FFF2-40B4-BE49-F238E27FC236}">
                <a16:creationId xmlns:a16="http://schemas.microsoft.com/office/drawing/2014/main" id="{18C29F59-B06A-39F9-D654-69C61B2155B7}"/>
              </a:ext>
            </a:extLst>
          </p:cNvPr>
          <p:cNvCxnSpPr>
            <a:cxnSpLocks/>
          </p:cNvCxnSpPr>
          <p:nvPr/>
        </p:nvCxnSpPr>
        <p:spPr>
          <a:xfrm>
            <a:off x="6114687" y="3970665"/>
            <a:ext cx="247428" cy="4057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497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Title 4"/>
          <p:cNvSpPr>
            <a:spLocks noGrp="1"/>
          </p:cNvSpPr>
          <p:nvPr>
            <p:ph type="title"/>
          </p:nvPr>
        </p:nvSpPr>
        <p:spPr>
          <a:xfrm>
            <a:off x="457200" y="221542"/>
            <a:ext cx="8229600" cy="917941"/>
          </a:xfrm>
        </p:spPr>
        <p:txBody>
          <a:bodyPr>
            <a:normAutofit/>
          </a:bodyPr>
          <a:lstStyle/>
          <a:p>
            <a:r>
              <a:rPr lang="it-IT" dirty="0"/>
              <a:t>GANs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581775"/>
            <a:ext cx="181292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>
                    <a:lumMod val="65000"/>
                  </a:srgbClr>
                </a:solidFill>
              </a:rPr>
              <a:t>Slide credit: L. </a:t>
            </a:r>
            <a:r>
              <a:rPr lang="en-US" sz="1200" dirty="0" err="1">
                <a:solidFill>
                  <a:srgbClr val="FFFFFF">
                    <a:lumMod val="65000"/>
                  </a:srgbClr>
                </a:solidFill>
              </a:rPr>
              <a:t>Lazebnik</a:t>
            </a:r>
            <a:endParaRPr lang="en-US" sz="1200" dirty="0">
              <a:solidFill>
                <a:srgbClr val="FFFFFF">
                  <a:lumMod val="65000"/>
                </a:srgb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2A530F-E5F5-8873-6391-D11AEA08F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434" y="1717319"/>
            <a:ext cx="6949801" cy="407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840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Title 4"/>
          <p:cNvSpPr>
            <a:spLocks noGrp="1"/>
          </p:cNvSpPr>
          <p:nvPr>
            <p:ph type="title"/>
          </p:nvPr>
        </p:nvSpPr>
        <p:spPr>
          <a:xfrm>
            <a:off x="457200" y="221542"/>
            <a:ext cx="8229600" cy="917941"/>
          </a:xfrm>
        </p:spPr>
        <p:txBody>
          <a:bodyPr>
            <a:normAutofit/>
          </a:bodyPr>
          <a:lstStyle/>
          <a:p>
            <a:r>
              <a:rPr lang="it-IT" dirty="0"/>
              <a:t>The problem with softmax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581775"/>
            <a:ext cx="181292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>
                    <a:lumMod val="65000"/>
                  </a:srgbClr>
                </a:solidFill>
              </a:rPr>
              <a:t>Slide credit: L. </a:t>
            </a:r>
            <a:r>
              <a:rPr lang="en-US" sz="1200" dirty="0" err="1">
                <a:solidFill>
                  <a:srgbClr val="FFFFFF">
                    <a:lumMod val="65000"/>
                  </a:srgbClr>
                </a:solidFill>
              </a:rPr>
              <a:t>Lazebnik</a:t>
            </a:r>
            <a:endParaRPr lang="en-US" sz="1200" dirty="0">
              <a:solidFill>
                <a:srgbClr val="FFFFFF">
                  <a:lumMod val="65000"/>
                </a:srgbClr>
              </a:solidFill>
            </a:endParaRPr>
          </a:p>
        </p:txBody>
      </p:sp>
      <p:pic>
        <p:nvPicPr>
          <p:cNvPr id="2054" name="Picture 6" descr="Vanishing and Exploding Gradients in Neural Network Models: Debugging,  Monitoring, and Fixing">
            <a:extLst>
              <a:ext uri="{FF2B5EF4-FFF2-40B4-BE49-F238E27FC236}">
                <a16:creationId xmlns:a16="http://schemas.microsoft.com/office/drawing/2014/main" id="{8B32B059-C65D-0553-7023-5CA618C5D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826" y="1442646"/>
            <a:ext cx="5822780" cy="4550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1D2E07-BE4F-2077-B8FF-3663BA37BCB1}"/>
              </a:ext>
            </a:extLst>
          </p:cNvPr>
          <p:cNvSpPr txBox="1"/>
          <p:nvPr/>
        </p:nvSpPr>
        <p:spPr>
          <a:xfrm>
            <a:off x="626012" y="2588455"/>
            <a:ext cx="1786597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DCGAN</a:t>
            </a: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1784902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Title 4"/>
          <p:cNvSpPr>
            <a:spLocks noGrp="1"/>
          </p:cNvSpPr>
          <p:nvPr>
            <p:ph type="title"/>
          </p:nvPr>
        </p:nvSpPr>
        <p:spPr>
          <a:xfrm>
            <a:off x="457200" y="221542"/>
            <a:ext cx="8229600" cy="917941"/>
          </a:xfrm>
        </p:spPr>
        <p:txBody>
          <a:bodyPr>
            <a:normAutofit/>
          </a:bodyPr>
          <a:lstStyle/>
          <a:p>
            <a:r>
              <a:rPr lang="it-IT" dirty="0"/>
              <a:t>The problem with linear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581775"/>
            <a:ext cx="181292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>
                    <a:lumMod val="65000"/>
                  </a:srgbClr>
                </a:solidFill>
              </a:rPr>
              <a:t>Slide credit: L. </a:t>
            </a:r>
            <a:r>
              <a:rPr lang="en-US" sz="1200" dirty="0" err="1">
                <a:solidFill>
                  <a:srgbClr val="FFFFFF">
                    <a:lumMod val="65000"/>
                  </a:srgbClr>
                </a:solidFill>
              </a:rPr>
              <a:t>Lazebnik</a:t>
            </a:r>
            <a:endParaRPr lang="en-US" sz="1200" dirty="0">
              <a:solidFill>
                <a:srgbClr val="FFFFFF">
                  <a:lumMod val="65000"/>
                </a:srgbClr>
              </a:solidFill>
            </a:endParaRPr>
          </a:p>
        </p:txBody>
      </p:sp>
      <p:pic>
        <p:nvPicPr>
          <p:cNvPr id="8194" name="Picture 2" descr="Loss explodes after 740 epochs · Issue #122 · NVIDIA/waveglow · GitHub">
            <a:extLst>
              <a:ext uri="{FF2B5EF4-FFF2-40B4-BE49-F238E27FC236}">
                <a16:creationId xmlns:a16="http://schemas.microsoft.com/office/drawing/2014/main" id="{16DE9E43-80F7-8552-0565-BDCFDC472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566" y="1354015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0C0FF5-DF8C-E34D-B81F-FC0AB3432E65}"/>
              </a:ext>
            </a:extLst>
          </p:cNvPr>
          <p:cNvSpPr txBox="1"/>
          <p:nvPr/>
        </p:nvSpPr>
        <p:spPr>
          <a:xfrm>
            <a:off x="626012" y="2588455"/>
            <a:ext cx="1786597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WGAN</a:t>
            </a:r>
            <a:endParaRPr lang="it-IT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2D2346-CF8C-7219-879D-23EE10A67C89}"/>
              </a:ext>
            </a:extLst>
          </p:cNvPr>
          <p:cNvSpPr txBox="1"/>
          <p:nvPr/>
        </p:nvSpPr>
        <p:spPr>
          <a:xfrm>
            <a:off x="626012" y="3140965"/>
            <a:ext cx="1786597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WGAN-GP</a:t>
            </a: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1408885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Title 4"/>
          <p:cNvSpPr>
            <a:spLocks noGrp="1"/>
          </p:cNvSpPr>
          <p:nvPr>
            <p:ph type="title"/>
          </p:nvPr>
        </p:nvSpPr>
        <p:spPr>
          <a:xfrm>
            <a:off x="457200" y="221542"/>
            <a:ext cx="8229600" cy="917941"/>
          </a:xfrm>
        </p:spPr>
        <p:txBody>
          <a:bodyPr>
            <a:normAutofit/>
          </a:bodyPr>
          <a:lstStyle/>
          <a:p>
            <a:r>
              <a:rPr lang="it-IT" dirty="0"/>
              <a:t>Hinge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581775"/>
            <a:ext cx="181292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>
                    <a:lumMod val="65000"/>
                  </a:srgbClr>
                </a:solidFill>
              </a:rPr>
              <a:t>Slide credit: L. </a:t>
            </a:r>
            <a:r>
              <a:rPr lang="en-US" sz="1200" dirty="0" err="1">
                <a:solidFill>
                  <a:srgbClr val="FFFFFF">
                    <a:lumMod val="65000"/>
                  </a:srgbClr>
                </a:solidFill>
              </a:rPr>
              <a:t>Lazebnik</a:t>
            </a:r>
            <a:endParaRPr lang="en-US" sz="1200" dirty="0">
              <a:solidFill>
                <a:srgbClr val="FFFFFF">
                  <a:lumMod val="65000"/>
                </a:srgbClr>
              </a:solidFill>
            </a:endParaRPr>
          </a:p>
        </p:txBody>
      </p:sp>
      <p:pic>
        <p:nvPicPr>
          <p:cNvPr id="7170" name="Picture 2" descr="Hinge-loss &amp; relationship with Support Vector Machines - GeeksforGeeks">
            <a:extLst>
              <a:ext uri="{FF2B5EF4-FFF2-40B4-BE49-F238E27FC236}">
                <a16:creationId xmlns:a16="http://schemas.microsoft.com/office/drawing/2014/main" id="{2C6A5FED-C459-DBEB-E8C9-36AFEC35A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67729"/>
            <a:ext cx="762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930B7C-2B05-8DAB-7197-3CF49CFB60EF}"/>
              </a:ext>
            </a:extLst>
          </p:cNvPr>
          <p:cNvSpPr txBox="1"/>
          <p:nvPr/>
        </p:nvSpPr>
        <p:spPr>
          <a:xfrm>
            <a:off x="1505243" y="5390271"/>
            <a:ext cx="1252025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RELU</a:t>
            </a:r>
            <a:r>
              <a:rPr lang="it-IT" sz="2000" dirty="0"/>
              <a:t>(1-x)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BE8359-109A-D9BF-E1F3-A93B47D0059F}"/>
              </a:ext>
            </a:extLst>
          </p:cNvPr>
          <p:cNvSpPr txBox="1"/>
          <p:nvPr/>
        </p:nvSpPr>
        <p:spPr>
          <a:xfrm>
            <a:off x="1505243" y="5904449"/>
            <a:ext cx="1252025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RELU</a:t>
            </a:r>
            <a:r>
              <a:rPr lang="it-IT" sz="2000" dirty="0"/>
              <a:t>(1+x)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4751FF-7742-9DE2-389A-761ED037B66D}"/>
              </a:ext>
            </a:extLst>
          </p:cNvPr>
          <p:cNvSpPr txBox="1"/>
          <p:nvPr/>
        </p:nvSpPr>
        <p:spPr>
          <a:xfrm>
            <a:off x="3542714" y="5405920"/>
            <a:ext cx="1922584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it-IT" sz="2000" dirty="0"/>
              <a:t>Target value is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C618DC-667D-89CB-57D7-590F5BA606C6}"/>
              </a:ext>
            </a:extLst>
          </p:cNvPr>
          <p:cNvSpPr txBox="1"/>
          <p:nvPr/>
        </p:nvSpPr>
        <p:spPr>
          <a:xfrm>
            <a:off x="3542714" y="5934221"/>
            <a:ext cx="1922584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it-IT" sz="2000" dirty="0"/>
              <a:t>Target value is -1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62E4BA-525B-CB26-C5E3-5680F46D9545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2757268" y="5590326"/>
            <a:ext cx="785446" cy="1564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8465D7B-5263-D0E5-75B9-A2C4F136E3C9}"/>
              </a:ext>
            </a:extLst>
          </p:cNvPr>
          <p:cNvCxnSpPr/>
          <p:nvPr/>
        </p:nvCxnSpPr>
        <p:spPr>
          <a:xfrm>
            <a:off x="2757268" y="6110802"/>
            <a:ext cx="785446" cy="1564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824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92FD1-BF25-6C9B-92A3-A5640F1CE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Adversarial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8F431-AAA4-7F53-5A8A-25C21BBD1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From the point of view of the Generator, the Discriminator is simply a loss function</a:t>
            </a:r>
          </a:p>
          <a:p>
            <a:r>
              <a:rPr lang="it-IT" dirty="0"/>
              <a:t>This means that the GAN loss can be used together with a traditional loss function</a:t>
            </a:r>
          </a:p>
          <a:p>
            <a:r>
              <a:rPr lang="it-IT" dirty="0"/>
              <a:t>Examples: Paired translation (Pix2Pix)</a:t>
            </a:r>
          </a:p>
          <a:p>
            <a:pPr marL="0" indent="0">
              <a:buNone/>
            </a:pPr>
            <a:endParaRPr lang="it-IT" dirty="0"/>
          </a:p>
          <a:p>
            <a:r>
              <a:rPr lang="it-IT" dirty="0"/>
              <a:t>Adversarial Autoencoder</a:t>
            </a:r>
          </a:p>
          <a:p>
            <a:endParaRPr lang="it-IT" dirty="0"/>
          </a:p>
        </p:txBody>
      </p:sp>
      <p:pic>
        <p:nvPicPr>
          <p:cNvPr id="1026" name="Picture 2" descr="Image-to-Image Translation with Conditional Adversarial Networks">
            <a:extLst>
              <a:ext uri="{FF2B5EF4-FFF2-40B4-BE49-F238E27FC236}">
                <a16:creationId xmlns:a16="http://schemas.microsoft.com/office/drawing/2014/main" id="{06CF94D3-7724-C3CC-0FD7-5818E71E74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83" t="6948" r="7770" b="53861"/>
          <a:stretch/>
        </p:blipFill>
        <p:spPr bwMode="auto">
          <a:xfrm>
            <a:off x="6351562" y="2826940"/>
            <a:ext cx="2468881" cy="1204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enerative adversarial autoencoders in Theano | Mike Swarbrick Jones' Blog">
            <a:extLst>
              <a:ext uri="{FF2B5EF4-FFF2-40B4-BE49-F238E27FC236}">
                <a16:creationId xmlns:a16="http://schemas.microsoft.com/office/drawing/2014/main" id="{4A297447-3B47-AD12-7623-82C5B1964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01" y="4031060"/>
            <a:ext cx="4944647" cy="2178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1041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92FD1-BF25-6C9B-92A3-A5640F1CE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Keep in mind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8F431-AAA4-7F53-5A8A-25C21BBD1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With x being the discriminator output, the generator uses RELU(1-x) as loss function because its aim is to have its output classified as 100% real (+1)</a:t>
            </a:r>
          </a:p>
          <a:p>
            <a:r>
              <a:rPr lang="it-IT" dirty="0"/>
              <a:t>The discriminator uses RELU(1-x</a:t>
            </a:r>
            <a:r>
              <a:rPr lang="it-IT" sz="2400" baseline="-25000" dirty="0"/>
              <a:t>real</a:t>
            </a:r>
            <a:r>
              <a:rPr lang="it-IT" dirty="0"/>
              <a:t>)+ RELU(1+x</a:t>
            </a:r>
            <a:r>
              <a:rPr lang="it-IT" sz="2400" baseline="-25000" dirty="0"/>
              <a:t>generator</a:t>
            </a:r>
            <a:r>
              <a:rPr lang="it-IT" dirty="0"/>
              <a:t>) as loss function, to classify real images as 100% real (+1) and generated images as 100% false (-1)</a:t>
            </a:r>
          </a:p>
          <a:p>
            <a:r>
              <a:rPr lang="it-IT" dirty="0"/>
              <a:t>Ensure the loss function of the generator does not update the parameters of the discriminator and viceversa</a:t>
            </a:r>
          </a:p>
          <a:p>
            <a:r>
              <a:rPr lang="it-IT" dirty="0"/>
              <a:t>One step for the generator, one step for the discriminator</a:t>
            </a:r>
          </a:p>
        </p:txBody>
      </p:sp>
    </p:spTree>
    <p:extLst>
      <p:ext uri="{BB962C8B-B14F-4D97-AF65-F5344CB8AC3E}">
        <p14:creationId xmlns:p14="http://schemas.microsoft.com/office/powerpoint/2010/main" val="2240902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Title 4"/>
          <p:cNvSpPr>
            <a:spLocks noGrp="1"/>
          </p:cNvSpPr>
          <p:nvPr>
            <p:ph type="title"/>
          </p:nvPr>
        </p:nvSpPr>
        <p:spPr>
          <a:xfrm>
            <a:off x="457200" y="221542"/>
            <a:ext cx="8229600" cy="917941"/>
          </a:xfrm>
        </p:spPr>
        <p:txBody>
          <a:bodyPr>
            <a:normAutofit/>
          </a:bodyPr>
          <a:lstStyle/>
          <a:p>
            <a:r>
              <a:rPr lang="it-IT" dirty="0"/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6581775"/>
            <a:ext cx="181292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>
                    <a:lumMod val="65000"/>
                  </a:srgbClr>
                </a:solidFill>
              </a:rPr>
              <a:t>Slide credit: L. </a:t>
            </a:r>
            <a:r>
              <a:rPr lang="en-US" sz="1200" dirty="0" err="1">
                <a:solidFill>
                  <a:srgbClr val="FFFFFF">
                    <a:lumMod val="65000"/>
                  </a:srgbClr>
                </a:solidFill>
              </a:rPr>
              <a:t>Lazebnik</a:t>
            </a:r>
            <a:endParaRPr lang="en-US" sz="1200" dirty="0">
              <a:solidFill>
                <a:srgbClr val="FFFFFF">
                  <a:lumMod val="65000"/>
                </a:srgb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12CC66-9B53-288F-6C33-2E8788189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51294"/>
            <a:ext cx="2587283" cy="25872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56AF7F-5DE6-85E7-F038-BB0FCEA16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6778" y="2451293"/>
            <a:ext cx="2587283" cy="25872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2A38373-589B-439F-BA1E-FEF0C2EDDC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2695" y="2451294"/>
            <a:ext cx="2535703" cy="253570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510F6FD-6BFF-CB5D-025D-C295BDEF3E5D}"/>
              </a:ext>
            </a:extLst>
          </p:cNvPr>
          <p:cNvSpPr txBox="1"/>
          <p:nvPr/>
        </p:nvSpPr>
        <p:spPr>
          <a:xfrm>
            <a:off x="1230923" y="1611746"/>
            <a:ext cx="1252025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Naive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626042-C59E-4933-0DCF-B47BB7D7F36C}"/>
              </a:ext>
            </a:extLst>
          </p:cNvPr>
          <p:cNvSpPr txBox="1"/>
          <p:nvPr/>
        </p:nvSpPr>
        <p:spPr>
          <a:xfrm>
            <a:off x="3894406" y="1611746"/>
            <a:ext cx="1252025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VAE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C53C4B-5A91-013A-5143-78781474864A}"/>
              </a:ext>
            </a:extLst>
          </p:cNvPr>
          <p:cNvSpPr txBox="1"/>
          <p:nvPr/>
        </p:nvSpPr>
        <p:spPr>
          <a:xfrm>
            <a:off x="6689187" y="1595333"/>
            <a:ext cx="1252025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2000" dirty="0"/>
              <a:t>GAN</a:t>
            </a:r>
          </a:p>
        </p:txBody>
      </p:sp>
    </p:spTree>
    <p:extLst>
      <p:ext uri="{BB962C8B-B14F-4D97-AF65-F5344CB8AC3E}">
        <p14:creationId xmlns:p14="http://schemas.microsoft.com/office/powerpoint/2010/main" val="886192027"/>
      </p:ext>
    </p:extLst>
  </p:cSld>
  <p:clrMapOvr>
    <a:masterClrMapping/>
  </p:clrMapOvr>
</p:sld>
</file>

<file path=ppt/theme/theme1.xml><?xml version="1.0" encoding="utf-8"?>
<a:theme xmlns:a="http://schemas.openxmlformats.org/drawingml/2006/main" name="1_Meeting Bonani Feb20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solidFill>
          <a:schemeClr val="bg2"/>
        </a:solidFill>
      </a:spPr>
      <a:bodyPr wrap="none" rtlCol="0">
        <a:spAutoFit/>
      </a:bodyPr>
      <a:lstStyle>
        <a:defPPr>
          <a:defRPr sz="20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14576</TotalTime>
  <Words>282</Words>
  <Application>Microsoft Office PowerPoint</Application>
  <PresentationFormat>On-screen Show (4:3)</PresentationFormat>
  <Paragraphs>65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1_Meeting Bonani Feb2012</vt:lpstr>
      <vt:lpstr>ML in Applications</vt:lpstr>
      <vt:lpstr>Generative Adversarial Networks</vt:lpstr>
      <vt:lpstr>Naive</vt:lpstr>
      <vt:lpstr>VAE</vt:lpstr>
      <vt:lpstr>Ideal Loss Function</vt:lpstr>
      <vt:lpstr>Ideal Loss Function</vt:lpstr>
      <vt:lpstr>GANs</vt:lpstr>
      <vt:lpstr>The problem with softmax</vt:lpstr>
      <vt:lpstr>The problem with linear</vt:lpstr>
      <vt:lpstr>Hinge Loss</vt:lpstr>
      <vt:lpstr>Adversarial training</vt:lpstr>
      <vt:lpstr>Keep in mind</vt:lpstr>
      <vt:lpstr>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Santa Di Cataldo</dc:creator>
  <cp:lastModifiedBy>Alessio Mascolini</cp:lastModifiedBy>
  <cp:revision>134</cp:revision>
  <cp:lastPrinted>2017-05-29T09:35:07Z</cp:lastPrinted>
  <dcterms:created xsi:type="dcterms:W3CDTF">2017-04-10T12:56:42Z</dcterms:created>
  <dcterms:modified xsi:type="dcterms:W3CDTF">2024-05-28T11:36:16Z</dcterms:modified>
</cp:coreProperties>
</file>