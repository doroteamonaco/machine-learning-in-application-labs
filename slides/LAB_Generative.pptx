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0" r:id="rId1"/>
  </p:sldMasterIdLst>
  <p:notesMasterIdLst>
    <p:notesMasterId r:id="rId20"/>
  </p:notesMasterIdLst>
  <p:sldIdLst>
    <p:sldId id="434" r:id="rId2"/>
    <p:sldId id="258" r:id="rId3"/>
    <p:sldId id="438" r:id="rId4"/>
    <p:sldId id="439" r:id="rId5"/>
    <p:sldId id="437" r:id="rId6"/>
    <p:sldId id="444" r:id="rId7"/>
    <p:sldId id="440" r:id="rId8"/>
    <p:sldId id="441" r:id="rId9"/>
    <p:sldId id="442" r:id="rId10"/>
    <p:sldId id="445" r:id="rId11"/>
    <p:sldId id="447" r:id="rId12"/>
    <p:sldId id="448" r:id="rId13"/>
    <p:sldId id="449" r:id="rId14"/>
    <p:sldId id="450" r:id="rId15"/>
    <p:sldId id="452" r:id="rId16"/>
    <p:sldId id="451" r:id="rId17"/>
    <p:sldId id="453" r:id="rId18"/>
    <p:sldId id="454"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600" autoAdjust="0"/>
    <p:restoredTop sz="83673"/>
  </p:normalViewPr>
  <p:slideViewPr>
    <p:cSldViewPr snapToGrid="0" snapToObjects="1">
      <p:cViewPr varScale="1">
        <p:scale>
          <a:sx n="136" d="100"/>
          <a:sy n="136" d="100"/>
        </p:scale>
        <p:origin x="5568" y="1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3FEFBD-B2F2-B14C-AD35-564F360BAA08}" type="datetimeFigureOut">
              <a:rPr lang="en-US" smtClean="0"/>
              <a:t>5/21/2024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8E557F-1D95-1843-BA81-09134688EC4E}" type="slidenum">
              <a:rPr lang="en-US" smtClean="0"/>
              <a:t>‹#›</a:t>
            </a:fld>
            <a:endParaRPr lang="en-US"/>
          </a:p>
        </p:txBody>
      </p:sp>
    </p:spTree>
    <p:extLst>
      <p:ext uri="{BB962C8B-B14F-4D97-AF65-F5344CB8AC3E}">
        <p14:creationId xmlns:p14="http://schemas.microsoft.com/office/powerpoint/2010/main" val="1005101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558E557F-1D95-1843-BA81-09134688EC4E}" type="slidenum">
              <a:rPr lang="en-US" smtClean="0"/>
              <a:t>1</a:t>
            </a:fld>
            <a:endParaRPr lang="en-US"/>
          </a:p>
        </p:txBody>
      </p:sp>
    </p:spTree>
    <p:extLst>
      <p:ext uri="{BB962C8B-B14F-4D97-AF65-F5344CB8AC3E}">
        <p14:creationId xmlns:p14="http://schemas.microsoft.com/office/powerpoint/2010/main" val="925117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3</a:t>
            </a:fld>
            <a:endParaRPr lang="en-US" altLang="en-US">
              <a:solidFill>
                <a:srgbClr val="000000"/>
              </a:solidFill>
            </a:endParaRPr>
          </a:p>
        </p:txBody>
      </p:sp>
    </p:spTree>
    <p:extLst>
      <p:ext uri="{BB962C8B-B14F-4D97-AF65-F5344CB8AC3E}">
        <p14:creationId xmlns:p14="http://schemas.microsoft.com/office/powerpoint/2010/main" val="2607522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4</a:t>
            </a:fld>
            <a:endParaRPr lang="en-US" altLang="en-US">
              <a:solidFill>
                <a:srgbClr val="000000"/>
              </a:solidFill>
            </a:endParaRPr>
          </a:p>
        </p:txBody>
      </p:sp>
    </p:spTree>
    <p:extLst>
      <p:ext uri="{BB962C8B-B14F-4D97-AF65-F5344CB8AC3E}">
        <p14:creationId xmlns:p14="http://schemas.microsoft.com/office/powerpoint/2010/main" val="1570779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5</a:t>
            </a:fld>
            <a:endParaRPr lang="en-US" altLang="en-US">
              <a:solidFill>
                <a:srgbClr val="000000"/>
              </a:solidFill>
            </a:endParaRPr>
          </a:p>
        </p:txBody>
      </p:sp>
    </p:spTree>
    <p:extLst>
      <p:ext uri="{BB962C8B-B14F-4D97-AF65-F5344CB8AC3E}">
        <p14:creationId xmlns:p14="http://schemas.microsoft.com/office/powerpoint/2010/main" val="3268920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6</a:t>
            </a:fld>
            <a:endParaRPr lang="en-US" altLang="en-US">
              <a:solidFill>
                <a:srgbClr val="000000"/>
              </a:solidFill>
            </a:endParaRPr>
          </a:p>
        </p:txBody>
      </p:sp>
    </p:spTree>
    <p:extLst>
      <p:ext uri="{BB962C8B-B14F-4D97-AF65-F5344CB8AC3E}">
        <p14:creationId xmlns:p14="http://schemas.microsoft.com/office/powerpoint/2010/main" val="240911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7</a:t>
            </a:fld>
            <a:endParaRPr lang="en-US" altLang="en-US">
              <a:solidFill>
                <a:srgbClr val="000000"/>
              </a:solidFill>
            </a:endParaRPr>
          </a:p>
        </p:txBody>
      </p:sp>
    </p:spTree>
    <p:extLst>
      <p:ext uri="{BB962C8B-B14F-4D97-AF65-F5344CB8AC3E}">
        <p14:creationId xmlns:p14="http://schemas.microsoft.com/office/powerpoint/2010/main" val="3481184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8</a:t>
            </a:fld>
            <a:endParaRPr lang="en-US" altLang="en-US">
              <a:solidFill>
                <a:srgbClr val="000000"/>
              </a:solidFill>
            </a:endParaRPr>
          </a:p>
        </p:txBody>
      </p:sp>
    </p:spTree>
    <p:extLst>
      <p:ext uri="{BB962C8B-B14F-4D97-AF65-F5344CB8AC3E}">
        <p14:creationId xmlns:p14="http://schemas.microsoft.com/office/powerpoint/2010/main" val="2848010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9</a:t>
            </a:fld>
            <a:endParaRPr lang="en-US" altLang="en-US">
              <a:solidFill>
                <a:srgbClr val="000000"/>
              </a:solidFill>
            </a:endParaRPr>
          </a:p>
        </p:txBody>
      </p:sp>
    </p:spTree>
    <p:extLst>
      <p:ext uri="{BB962C8B-B14F-4D97-AF65-F5344CB8AC3E}">
        <p14:creationId xmlns:p14="http://schemas.microsoft.com/office/powerpoint/2010/main" val="1689697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10</a:t>
            </a:fld>
            <a:endParaRPr lang="en-US" altLang="en-US">
              <a:solidFill>
                <a:srgbClr val="000000"/>
              </a:solidFill>
            </a:endParaRPr>
          </a:p>
        </p:txBody>
      </p:sp>
    </p:spTree>
    <p:extLst>
      <p:ext uri="{BB962C8B-B14F-4D97-AF65-F5344CB8AC3E}">
        <p14:creationId xmlns:p14="http://schemas.microsoft.com/office/powerpoint/2010/main" val="22572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11</a:t>
            </a:fld>
            <a:endParaRPr lang="en-US" altLang="en-US">
              <a:solidFill>
                <a:srgbClr val="000000"/>
              </a:solidFill>
            </a:endParaRPr>
          </a:p>
        </p:txBody>
      </p:sp>
    </p:spTree>
    <p:extLst>
      <p:ext uri="{BB962C8B-B14F-4D97-AF65-F5344CB8AC3E}">
        <p14:creationId xmlns:p14="http://schemas.microsoft.com/office/powerpoint/2010/main" val="2851132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12</a:t>
            </a:fld>
            <a:endParaRPr lang="en-US" altLang="en-US">
              <a:solidFill>
                <a:srgbClr val="000000"/>
              </a:solidFill>
            </a:endParaRPr>
          </a:p>
        </p:txBody>
      </p:sp>
    </p:spTree>
    <p:extLst>
      <p:ext uri="{BB962C8B-B14F-4D97-AF65-F5344CB8AC3E}">
        <p14:creationId xmlns:p14="http://schemas.microsoft.com/office/powerpoint/2010/main" val="1328098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13</a:t>
            </a:fld>
            <a:endParaRPr lang="en-US" altLang="en-US">
              <a:solidFill>
                <a:srgbClr val="000000"/>
              </a:solidFill>
            </a:endParaRPr>
          </a:p>
        </p:txBody>
      </p:sp>
    </p:spTree>
    <p:extLst>
      <p:ext uri="{BB962C8B-B14F-4D97-AF65-F5344CB8AC3E}">
        <p14:creationId xmlns:p14="http://schemas.microsoft.com/office/powerpoint/2010/main" val="2890307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14</a:t>
            </a:fld>
            <a:endParaRPr lang="en-US" altLang="en-US">
              <a:solidFill>
                <a:srgbClr val="000000"/>
              </a:solidFill>
            </a:endParaRPr>
          </a:p>
        </p:txBody>
      </p:sp>
    </p:spTree>
    <p:extLst>
      <p:ext uri="{BB962C8B-B14F-4D97-AF65-F5344CB8AC3E}">
        <p14:creationId xmlns:p14="http://schemas.microsoft.com/office/powerpoint/2010/main" val="3211778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tLang="en-US" dirty="0"/>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15</a:t>
            </a:fld>
            <a:endParaRPr lang="en-US" altLang="en-US">
              <a:solidFill>
                <a:srgbClr val="000000"/>
              </a:solidFill>
            </a:endParaRPr>
          </a:p>
        </p:txBody>
      </p:sp>
    </p:spTree>
    <p:extLst>
      <p:ext uri="{BB962C8B-B14F-4D97-AF65-F5344CB8AC3E}">
        <p14:creationId xmlns:p14="http://schemas.microsoft.com/office/powerpoint/2010/main" val="17642214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16</a:t>
            </a:fld>
            <a:endParaRPr lang="en-US" altLang="en-US">
              <a:solidFill>
                <a:srgbClr val="000000"/>
              </a:solidFill>
            </a:endParaRPr>
          </a:p>
        </p:txBody>
      </p:sp>
    </p:spTree>
    <p:extLst>
      <p:ext uri="{BB962C8B-B14F-4D97-AF65-F5344CB8AC3E}">
        <p14:creationId xmlns:p14="http://schemas.microsoft.com/office/powerpoint/2010/main" val="30266018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17</a:t>
            </a:fld>
            <a:endParaRPr lang="en-US" altLang="en-US">
              <a:solidFill>
                <a:srgbClr val="000000"/>
              </a:solidFill>
            </a:endParaRPr>
          </a:p>
        </p:txBody>
      </p:sp>
    </p:spTree>
    <p:extLst>
      <p:ext uri="{BB962C8B-B14F-4D97-AF65-F5344CB8AC3E}">
        <p14:creationId xmlns:p14="http://schemas.microsoft.com/office/powerpoint/2010/main" val="4016790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tLang="en-US"/>
          </a:p>
        </p:txBody>
      </p:sp>
      <p:sp>
        <p:nvSpPr>
          <p:cNvPr id="1433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BFDD2C53-8076-BF49-9136-A5627810224C}" type="slidenum">
              <a:rPr lang="en-US" altLang="en-US">
                <a:solidFill>
                  <a:srgbClr val="000000"/>
                </a:solidFill>
              </a:rPr>
              <a:pPr>
                <a:spcBef>
                  <a:spcPct val="0"/>
                </a:spcBef>
              </a:pPr>
              <a:t>18</a:t>
            </a:fld>
            <a:endParaRPr lang="en-US" altLang="en-US">
              <a:solidFill>
                <a:srgbClr val="000000"/>
              </a:solidFill>
            </a:endParaRPr>
          </a:p>
        </p:txBody>
      </p:sp>
    </p:spTree>
    <p:extLst>
      <p:ext uri="{BB962C8B-B14F-4D97-AF65-F5344CB8AC3E}">
        <p14:creationId xmlns:p14="http://schemas.microsoft.com/office/powerpoint/2010/main" val="2943738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it-IT"/>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t-IT"/>
          </a:p>
        </p:txBody>
      </p:sp>
    </p:spTree>
    <p:extLst>
      <p:ext uri="{BB962C8B-B14F-4D97-AF65-F5344CB8AC3E}">
        <p14:creationId xmlns:p14="http://schemas.microsoft.com/office/powerpoint/2010/main" val="624121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userDrawn="1"/>
        </p:nvSpPr>
        <p:spPr>
          <a:xfrm>
            <a:off x="0" y="6400801"/>
            <a:ext cx="9144000" cy="4572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ML in Applications</a:t>
            </a:r>
            <a:endParaRPr lang="it-IT" dirty="0">
              <a:solidFill>
                <a:prstClr val="white"/>
              </a:solidFill>
            </a:endParaRPr>
          </a:p>
        </p:txBody>
      </p:sp>
      <p:sp>
        <p:nvSpPr>
          <p:cNvPr id="2" name="Title 1"/>
          <p:cNvSpPr>
            <a:spLocks noGrp="1"/>
          </p:cNvSpPr>
          <p:nvPr>
            <p:ph type="title"/>
          </p:nvPr>
        </p:nvSpPr>
        <p:spPr>
          <a:xfrm>
            <a:off x="457200" y="228600"/>
            <a:ext cx="8229600" cy="868362"/>
          </a:xfrm>
          <a:effectLst>
            <a:outerShdw blurRad="50800" dist="88900" dir="2700000" algn="tl" rotWithShape="0">
              <a:prstClr val="black">
                <a:alpha val="40000"/>
              </a:prstClr>
            </a:outerShdw>
          </a:effectLst>
        </p:spPr>
        <p:txBody>
          <a:bodyPr>
            <a:normAutofit/>
          </a:bodyPr>
          <a:lstStyle>
            <a:lvl1pPr>
              <a:defRPr sz="3600"/>
            </a:lvl1pPr>
          </a:lstStyle>
          <a:p>
            <a:r>
              <a:rPr lang="en-US" dirty="0"/>
              <a:t>Click to edit Master title style</a:t>
            </a:r>
            <a:endParaRPr lang="it-IT" dirty="0"/>
          </a:p>
        </p:txBody>
      </p:sp>
      <p:sp>
        <p:nvSpPr>
          <p:cNvPr id="3" name="Content Placeholder 2"/>
          <p:cNvSpPr>
            <a:spLocks noGrp="1"/>
          </p:cNvSpPr>
          <p:nvPr>
            <p:ph idx="1"/>
          </p:nvPr>
        </p:nvSpPr>
        <p:spPr>
          <a:xfrm>
            <a:off x="457200" y="1295400"/>
            <a:ext cx="8229600" cy="5009866"/>
          </a:xfrm>
        </p:spPr>
        <p:txBody>
          <a:bodyPr/>
          <a:lstStyle>
            <a:lvl1pPr>
              <a:lnSpc>
                <a:spcPct val="85000"/>
              </a:lnSpc>
              <a:defRPr/>
            </a:lvl1pPr>
            <a:lvl2pPr>
              <a:lnSpc>
                <a:spcPct val="85000"/>
              </a:lnSpc>
              <a:defRPr/>
            </a:lvl2pPr>
            <a:lvl3pPr>
              <a:lnSpc>
                <a:spcPct val="85000"/>
              </a:lnSpc>
              <a:defRPr/>
            </a:lvl3pPr>
            <a:lvl4pPr>
              <a:lnSpc>
                <a:spcPct val="85000"/>
              </a:lnSpc>
              <a:defRPr/>
            </a:lvl4pPr>
            <a:lvl5pPr>
              <a:lnSpc>
                <a:spcPct val="85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Tree>
    <p:extLst>
      <p:ext uri="{BB962C8B-B14F-4D97-AF65-F5344CB8AC3E}">
        <p14:creationId xmlns:p14="http://schemas.microsoft.com/office/powerpoint/2010/main" val="777326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normAutofit/>
          </a:bodyPr>
          <a:lstStyle>
            <a:lvl1pPr>
              <a:defRPr sz="3600"/>
            </a:lvl1pPr>
          </a:lstStyle>
          <a:p>
            <a:r>
              <a:rPr lang="en-US" dirty="0"/>
              <a:t>Click to edit Master title style</a:t>
            </a:r>
            <a:endParaRPr lang="it-IT" dirty="0"/>
          </a:p>
        </p:txBody>
      </p:sp>
      <p:sp>
        <p:nvSpPr>
          <p:cNvPr id="3" name="Content Placeholder 2"/>
          <p:cNvSpPr>
            <a:spLocks noGrp="1"/>
          </p:cNvSpPr>
          <p:nvPr>
            <p:ph idx="1"/>
          </p:nvPr>
        </p:nvSpPr>
        <p:spPr>
          <a:xfrm>
            <a:off x="457200" y="1295400"/>
            <a:ext cx="4032913" cy="48858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p:cNvSpPr>
            <a:spLocks noGrp="1"/>
          </p:cNvSpPr>
          <p:nvPr>
            <p:ph type="dt" sz="half" idx="10"/>
          </p:nvPr>
        </p:nvSpPr>
        <p:spPr/>
        <p:txBody>
          <a:bodyPr/>
          <a:lstStyle/>
          <a:p>
            <a:fld id="{864E7F78-57DB-4877-ACE4-A1E3B418FD54}" type="datetime1">
              <a:rPr lang="en-US" smtClean="0">
                <a:solidFill>
                  <a:prstClr val="black">
                    <a:tint val="75000"/>
                  </a:prstClr>
                </a:solidFill>
              </a:rPr>
              <a:pPr/>
              <a:t>5/21/2024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sz="1800"/>
            </a:lvl1pPr>
          </a:lstStyle>
          <a:p>
            <a:fld id="{D9309533-C290-4B1B-A9DE-ACC185DAD9DB}" type="slidenum">
              <a:rPr lang="en-US" smtClean="0">
                <a:solidFill>
                  <a:prstClr val="black">
                    <a:tint val="75000"/>
                  </a:prstClr>
                </a:solidFill>
              </a:rPr>
              <a:pPr/>
              <a:t>‹#›</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ontent Placeholder 2"/>
          <p:cNvSpPr>
            <a:spLocks noGrp="1"/>
          </p:cNvSpPr>
          <p:nvPr>
            <p:ph idx="13"/>
          </p:nvPr>
        </p:nvSpPr>
        <p:spPr>
          <a:xfrm>
            <a:off x="4635691" y="1297674"/>
            <a:ext cx="4032913" cy="48858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Tree>
    <p:extLst>
      <p:ext uri="{BB962C8B-B14F-4D97-AF65-F5344CB8AC3E}">
        <p14:creationId xmlns:p14="http://schemas.microsoft.com/office/powerpoint/2010/main" val="1506422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2100B0-E227-42C2-BF93-3C44C372809C}" type="datetime1">
              <a:rPr lang="en-US" smtClean="0">
                <a:solidFill>
                  <a:prstClr val="black">
                    <a:tint val="75000"/>
                  </a:prstClr>
                </a:solidFill>
              </a:rPr>
              <a:pPr/>
              <a:t>5/21/2024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fld id="{D9309533-C290-4B1B-A9DE-ACC185DAD9DB}" type="slidenum">
              <a:rPr lang="en-US" smtClean="0">
                <a:solidFill>
                  <a:prstClr val="black">
                    <a:tint val="75000"/>
                  </a:prstClr>
                </a:solidFill>
              </a:rPr>
              <a:pPr/>
              <a:t>‹#›</a:t>
            </a:fld>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75484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Arrowhead 1 column">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2" name="Rubrik 1"/>
          <p:cNvSpPr>
            <a:spLocks noGrp="1"/>
          </p:cNvSpPr>
          <p:nvPr>
            <p:ph type="title" hasCustomPrompt="1"/>
          </p:nvPr>
        </p:nvSpPr>
        <p:spPr>
          <a:xfrm>
            <a:off x="799891" y="718279"/>
            <a:ext cx="7444935" cy="624590"/>
          </a:xfrm>
          <a:prstGeom prst="rect">
            <a:avLst/>
          </a:prstGeom>
        </p:spPr>
        <p:txBody>
          <a:bodyPr vert="horz"/>
          <a:lstStyle>
            <a:lvl1pPr algn="l">
              <a:defRPr sz="3600" baseline="0"/>
            </a:lvl1pPr>
          </a:lstStyle>
          <a:p>
            <a:r>
              <a:rPr lang="sv-SE" dirty="0" err="1"/>
              <a:t>Click</a:t>
            </a:r>
            <a:r>
              <a:rPr lang="sv-SE" dirty="0"/>
              <a:t> </a:t>
            </a:r>
            <a:r>
              <a:rPr lang="sv-SE" dirty="0" err="1"/>
              <a:t>to</a:t>
            </a:r>
            <a:r>
              <a:rPr lang="sv-SE" dirty="0"/>
              <a:t> </a:t>
            </a:r>
            <a:r>
              <a:rPr lang="sv-SE" dirty="0" err="1"/>
              <a:t>add</a:t>
            </a:r>
            <a:r>
              <a:rPr lang="sv-SE" dirty="0"/>
              <a:t> </a:t>
            </a:r>
            <a:r>
              <a:rPr lang="sv-SE" dirty="0" err="1"/>
              <a:t>title</a:t>
            </a:r>
            <a:endParaRPr lang="sv-SE" dirty="0"/>
          </a:p>
        </p:txBody>
      </p:sp>
      <p:sp>
        <p:nvSpPr>
          <p:cNvPr id="6" name="Platshållare för innehåll 5"/>
          <p:cNvSpPr>
            <a:spLocks noGrp="1"/>
          </p:cNvSpPr>
          <p:nvPr>
            <p:ph sz="quarter" idx="10" hasCustomPrompt="1"/>
          </p:nvPr>
        </p:nvSpPr>
        <p:spPr>
          <a:xfrm>
            <a:off x="799891" y="1422183"/>
            <a:ext cx="7444935" cy="4623851"/>
          </a:xfrm>
          <a:prstGeom prst="rect">
            <a:avLst/>
          </a:prstGeom>
        </p:spPr>
        <p:txBody>
          <a:bodyPr vert="horz"/>
          <a:lstStyle>
            <a:lvl1pPr marL="268288" indent="-268288">
              <a:buFontTx/>
              <a:buNone/>
              <a:defRPr sz="2000"/>
            </a:lvl1pPr>
            <a:lvl2pPr marL="742950" indent="-285750">
              <a:buFont typeface="Arial"/>
              <a:buChar char="•"/>
              <a:defRPr sz="1800"/>
            </a:lvl2pPr>
            <a:lvl3pPr>
              <a:defRPr sz="1600"/>
            </a:lvl3pPr>
            <a:lvl4pPr marL="1600200" indent="-228600">
              <a:buFont typeface="Arial"/>
              <a:buChar char="•"/>
              <a:defRPr sz="1400"/>
            </a:lvl4pPr>
            <a:lvl5pPr marL="2057400" indent="-228600">
              <a:buFont typeface="Arial"/>
              <a:buChar char="•"/>
              <a:defRPr sz="1200" baseline="0"/>
            </a:lvl5pPr>
          </a:lstStyle>
          <a:p>
            <a:pPr lvl="0"/>
            <a:r>
              <a:rPr lang="sv-SE" dirty="0" err="1"/>
              <a:t>Click</a:t>
            </a:r>
            <a:r>
              <a:rPr lang="sv-SE" dirty="0"/>
              <a:t> to </a:t>
            </a:r>
            <a:r>
              <a:rPr lang="sv-SE" dirty="0" err="1"/>
              <a:t>edit</a:t>
            </a:r>
            <a:r>
              <a:rPr lang="sv-SE" dirty="0"/>
              <a:t> text</a:t>
            </a:r>
          </a:p>
          <a:p>
            <a:pPr lvl="1"/>
            <a:r>
              <a:rPr lang="sv-SE" dirty="0"/>
              <a:t>Second </a:t>
            </a:r>
            <a:r>
              <a:rPr lang="sv-SE" dirty="0" err="1"/>
              <a:t>level</a:t>
            </a:r>
            <a:endParaRPr lang="sv-SE" dirty="0"/>
          </a:p>
          <a:p>
            <a:pPr lvl="2"/>
            <a:r>
              <a:rPr lang="sv-SE" dirty="0" err="1"/>
              <a:t>Third</a:t>
            </a:r>
            <a:r>
              <a:rPr lang="sv-SE" dirty="0"/>
              <a:t> </a:t>
            </a:r>
            <a:r>
              <a:rPr lang="sv-SE" dirty="0" err="1"/>
              <a:t>level</a:t>
            </a:r>
            <a:endParaRPr lang="sv-SE" dirty="0"/>
          </a:p>
          <a:p>
            <a:pPr lvl="3"/>
            <a:r>
              <a:rPr lang="sv-SE" dirty="0" err="1"/>
              <a:t>Fourth</a:t>
            </a:r>
            <a:r>
              <a:rPr lang="sv-SE" dirty="0"/>
              <a:t> </a:t>
            </a:r>
            <a:r>
              <a:rPr lang="sv-SE" dirty="0" err="1"/>
              <a:t>level</a:t>
            </a:r>
            <a:endParaRPr lang="sv-SE" dirty="0"/>
          </a:p>
          <a:p>
            <a:pPr lvl="4"/>
            <a:r>
              <a:rPr lang="sv-SE" dirty="0" err="1"/>
              <a:t>Fifth</a:t>
            </a:r>
            <a:r>
              <a:rPr lang="sv-SE" dirty="0"/>
              <a:t> </a:t>
            </a:r>
            <a:r>
              <a:rPr lang="sv-SE" dirty="0" err="1"/>
              <a:t>level</a:t>
            </a:r>
            <a:endParaRPr lang="sv-SE" dirty="0"/>
          </a:p>
        </p:txBody>
      </p:sp>
      <p:sp>
        <p:nvSpPr>
          <p:cNvPr id="3" name="Platshållare för bildnummer 2"/>
          <p:cNvSpPr>
            <a:spLocks noGrp="1"/>
          </p:cNvSpPr>
          <p:nvPr>
            <p:ph type="sldNum" sz="quarter" idx="11"/>
          </p:nvPr>
        </p:nvSpPr>
        <p:spPr/>
        <p:txBody>
          <a:bodyPr/>
          <a:lstStyle/>
          <a:p>
            <a:fld id="{F6939B3E-C388-DC4F-B31A-4B360DF27421}" type="slidenum">
              <a:rPr lang="sv-SE" smtClean="0"/>
              <a:pPr/>
              <a:t>‹#›</a:t>
            </a:fld>
            <a:endParaRPr lang="sv-SE"/>
          </a:p>
        </p:txBody>
      </p:sp>
      <p:sp>
        <p:nvSpPr>
          <p:cNvPr id="5" name="textruta 4"/>
          <p:cNvSpPr txBox="1"/>
          <p:nvPr userDrawn="1"/>
        </p:nvSpPr>
        <p:spPr>
          <a:xfrm>
            <a:off x="374549" y="6201910"/>
            <a:ext cx="3966626" cy="215444"/>
          </a:xfrm>
          <a:prstGeom prst="rect">
            <a:avLst/>
          </a:prstGeom>
          <a:noFill/>
        </p:spPr>
        <p:txBody>
          <a:bodyPr wrap="square" rtlCol="0">
            <a:spAutoFit/>
          </a:bodyPr>
          <a:lstStyle/>
          <a:p>
            <a:r>
              <a:rPr lang="sv-SE" sz="800" dirty="0" err="1">
                <a:solidFill>
                  <a:prstClr val="black"/>
                </a:solidFill>
              </a:rPr>
              <a:t>www.arrowhead.eu</a:t>
            </a:r>
            <a:endParaRPr lang="sv-SE" sz="800" dirty="0">
              <a:solidFill>
                <a:prstClr val="black"/>
              </a:solidFill>
            </a:endParaRPr>
          </a:p>
        </p:txBody>
      </p:sp>
    </p:spTree>
    <p:extLst>
      <p:ext uri="{BB962C8B-B14F-4D97-AF65-F5344CB8AC3E}">
        <p14:creationId xmlns:p14="http://schemas.microsoft.com/office/powerpoint/2010/main" val="92989563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6635"/>
            <a:ext cx="8229600" cy="926365"/>
          </a:xfrm>
          <a:prstGeom prst="rect">
            <a:avLst/>
          </a:prstGeom>
          <a:solidFill>
            <a:schemeClr val="bg2"/>
          </a:solidFill>
        </p:spPr>
        <p:txBody>
          <a:bodyPr vert="horz" lIns="91440" tIns="45720" rIns="91440" bIns="45720" rtlCol="0" anchor="ctr">
            <a:normAutofit/>
          </a:bodyPr>
          <a:lstStyle/>
          <a:p>
            <a:r>
              <a:rPr lang="en-US"/>
              <a:t>Click to edit Master title style</a:t>
            </a:r>
            <a:endParaRPr lang="it-IT"/>
          </a:p>
        </p:txBody>
      </p:sp>
      <p:sp>
        <p:nvSpPr>
          <p:cNvPr id="3" name="Text Placeholder 2"/>
          <p:cNvSpPr>
            <a:spLocks noGrp="1"/>
          </p:cNvSpPr>
          <p:nvPr>
            <p:ph type="body" idx="1"/>
          </p:nvPr>
        </p:nvSpPr>
        <p:spPr>
          <a:xfrm>
            <a:off x="457200" y="1364776"/>
            <a:ext cx="8229600" cy="4885899"/>
          </a:xfrm>
          <a:prstGeom prst="rect">
            <a:avLst/>
          </a:prstGeom>
          <a:ln>
            <a:solidFill>
              <a:schemeClr val="bg1">
                <a:lumMod val="85000"/>
              </a:schemeClr>
            </a:solidFill>
          </a:ln>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0B2C4A-8B7E-446C-8D8F-EC128F0F363C}" type="datetime1">
              <a:rPr lang="en-US" smtClean="0">
                <a:solidFill>
                  <a:prstClr val="black">
                    <a:tint val="75000"/>
                  </a:prstClr>
                </a:solidFill>
              </a:rPr>
              <a:pPr/>
              <a:t>5/21/2024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800">
                <a:solidFill>
                  <a:schemeClr val="tx1">
                    <a:tint val="75000"/>
                  </a:schemeClr>
                </a:solidFill>
              </a:defRPr>
            </a:lvl1pPr>
          </a:lstStyle>
          <a:p>
            <a:fld id="{D9309533-C290-4B1B-A9DE-ACC185DAD9DB}" type="slidenum">
              <a:rPr lang="en-US" smtClean="0">
                <a:solidFill>
                  <a:prstClr val="black">
                    <a:tint val="75000"/>
                  </a:prstClr>
                </a:solidFill>
              </a:rPr>
              <a:pPr/>
              <a:t>‹#›</a:t>
            </a:fld>
            <a:endParaRPr lang="en-US" dirty="0">
              <a:solidFill>
                <a:prstClr val="black">
                  <a:tint val="75000"/>
                </a:prstClr>
              </a:solidFill>
            </a:endParaRPr>
          </a:p>
        </p:txBody>
      </p:sp>
      <p:sp>
        <p:nvSpPr>
          <p:cNvPr id="6" name="Slide Number Placeholder 5"/>
          <p:cNvSpPr>
            <a:spLocks noGrp="1"/>
          </p:cNvSpPr>
          <p:nvPr>
            <p:ph type="sldNum" sz="quarter" idx="4"/>
          </p:nvPr>
        </p:nvSpPr>
        <p:spPr>
          <a:xfrm>
            <a:off x="8227324" y="6479227"/>
            <a:ext cx="609600" cy="365125"/>
          </a:xfrm>
          <a:prstGeom prst="rect">
            <a:avLst/>
          </a:prstGeom>
        </p:spPr>
        <p:txBody>
          <a:bodyPr vert="horz" lIns="91440" tIns="45720" rIns="91440" bIns="45720" rtlCol="0" anchor="ctr"/>
          <a:lstStyle>
            <a:lvl1pPr algn="r">
              <a:defRPr sz="1200">
                <a:solidFill>
                  <a:srgbClr val="002060"/>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519780765"/>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Lst>
  <p:transition spd="slow">
    <p:wipe dir="r"/>
  </p:transition>
  <p:hf hdr="0" ftr="0" dt="0"/>
  <p:txStyles>
    <p:titleStyle>
      <a:lvl1pPr algn="ctr" defTabSz="914400" rtl="0" eaLnBrk="1" latinLnBrk="0" hangingPunct="1">
        <a:spcBef>
          <a:spcPct val="0"/>
        </a:spcBef>
        <a:buNone/>
        <a:defRPr lang="it-IT" sz="3600" b="1" kern="1200">
          <a:solidFill>
            <a:schemeClr val="tx1"/>
          </a:solidFill>
          <a:latin typeface="Cambria" pitchFamily="18" charset="0"/>
          <a:ea typeface="+mj-ea"/>
          <a:cs typeface="+mj-cs"/>
        </a:defRPr>
      </a:lvl1pPr>
    </p:titleStyle>
    <p:bodyStyle>
      <a:lvl1pPr marL="342900" indent="-342900" algn="l" defTabSz="914400" rtl="0" eaLnBrk="1" latinLnBrk="0" hangingPunct="1">
        <a:lnSpc>
          <a:spcPct val="85000"/>
        </a:lnSpc>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lnSpc>
          <a:spcPct val="85000"/>
        </a:lnSpc>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85000"/>
        </a:lnSpc>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85000"/>
        </a:lnSpc>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85000"/>
        </a:lnSpc>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0"/>
            <a:ext cx="7772400" cy="2228851"/>
          </a:xfr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pPr lvl="0"/>
            <a:r>
              <a:rPr lang="en-GB" i="1" dirty="0">
                <a:solidFill>
                  <a:schemeClr val="tx2">
                    <a:lumMod val="50000"/>
                  </a:schemeClr>
                </a:solidFill>
              </a:rPr>
              <a:t>ML </a:t>
            </a:r>
            <a:r>
              <a:rPr lang="en-GB" i="1">
                <a:solidFill>
                  <a:schemeClr val="tx2">
                    <a:lumMod val="50000"/>
                  </a:schemeClr>
                </a:solidFill>
              </a:rPr>
              <a:t>in Applications</a:t>
            </a:r>
            <a:endParaRPr lang="it-IT" b="1" dirty="0">
              <a:solidFill>
                <a:schemeClr val="tx2">
                  <a:lumMod val="50000"/>
                </a:schemeClr>
              </a:solidFill>
            </a:endParaRPr>
          </a:p>
        </p:txBody>
      </p:sp>
      <p:sp>
        <p:nvSpPr>
          <p:cNvPr id="3" name="Subtitle 2"/>
          <p:cNvSpPr>
            <a:spLocks noGrp="1"/>
          </p:cNvSpPr>
          <p:nvPr>
            <p:ph type="subTitle" idx="1"/>
          </p:nvPr>
        </p:nvSpPr>
        <p:spPr>
          <a:xfrm>
            <a:off x="1309255" y="3603068"/>
            <a:ext cx="6463145" cy="1363281"/>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p>
            <a:endParaRPr lang="en-US" sz="2400" b="1" i="1" dirty="0">
              <a:solidFill>
                <a:schemeClr val="accent2">
                  <a:lumMod val="75000"/>
                </a:schemeClr>
              </a:solidFill>
              <a:latin typeface="Cambria" pitchFamily="18" charset="0"/>
            </a:endParaRPr>
          </a:p>
          <a:p>
            <a:r>
              <a:rPr lang="en-US" sz="2400" b="1" i="1" dirty="0" err="1">
                <a:solidFill>
                  <a:schemeClr val="accent2">
                    <a:lumMod val="75000"/>
                  </a:schemeClr>
                </a:solidFill>
                <a:latin typeface="Cambria" pitchFamily="18" charset="0"/>
              </a:rPr>
              <a:t>Dipartimento</a:t>
            </a:r>
            <a:r>
              <a:rPr lang="en-US" sz="2400" b="1" i="1" dirty="0">
                <a:solidFill>
                  <a:schemeClr val="accent2">
                    <a:lumMod val="75000"/>
                  </a:schemeClr>
                </a:solidFill>
                <a:latin typeface="Cambria" pitchFamily="18" charset="0"/>
              </a:rPr>
              <a:t> di Automatica e Informatica </a:t>
            </a:r>
          </a:p>
          <a:p>
            <a:r>
              <a:rPr lang="en-US" sz="2400" b="1" i="1" dirty="0">
                <a:solidFill>
                  <a:schemeClr val="accent2">
                    <a:lumMod val="75000"/>
                  </a:schemeClr>
                </a:solidFill>
                <a:latin typeface="Cambria" pitchFamily="18" charset="0"/>
              </a:rPr>
              <a:t>Politecnico di Torino, Torino, ITALY</a:t>
            </a:r>
            <a:endParaRPr lang="it-IT" sz="2400" b="1" i="1" dirty="0">
              <a:solidFill>
                <a:schemeClr val="accent2">
                  <a:lumMod val="75000"/>
                </a:schemeClr>
              </a:solidFill>
              <a:latin typeface="Cambria" pitchFamily="18" charset="0"/>
            </a:endParaRPr>
          </a:p>
        </p:txBody>
      </p:sp>
      <p:pic>
        <p:nvPicPr>
          <p:cNvPr id="18434" name="Picture 2" descr="Logo_Poli_trasparente.gif"/>
          <p:cNvPicPr>
            <a:picLocks noChangeAspect="1" noChangeArrowheads="1"/>
          </p:cNvPicPr>
          <p:nvPr/>
        </p:nvPicPr>
        <p:blipFill>
          <a:blip r:embed="rId3" cstate="print"/>
          <a:srcRect/>
          <a:stretch>
            <a:fillRect/>
          </a:stretch>
        </p:blipFill>
        <p:spPr bwMode="auto">
          <a:xfrm>
            <a:off x="3810000" y="5035624"/>
            <a:ext cx="1529588" cy="1524506"/>
          </a:xfrm>
          <a:prstGeom prst="rect">
            <a:avLst/>
          </a:prstGeom>
          <a:noFill/>
        </p:spPr>
      </p:pic>
    </p:spTree>
    <p:extLst>
      <p:ext uri="{BB962C8B-B14F-4D97-AF65-F5344CB8AC3E}">
        <p14:creationId xmlns:p14="http://schemas.microsoft.com/office/powerpoint/2010/main" val="3802993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0734" y="1917405"/>
            <a:ext cx="7772400" cy="2228851"/>
          </a:xfr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it-IT" dirty="0"/>
              <a:t>Introduction to Generative Models</a:t>
            </a:r>
          </a:p>
        </p:txBody>
      </p:sp>
    </p:spTree>
    <p:extLst>
      <p:ext uri="{BB962C8B-B14F-4D97-AF65-F5344CB8AC3E}">
        <p14:creationId xmlns:p14="http://schemas.microsoft.com/office/powerpoint/2010/main" val="3325099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Deterministic Outputs</a:t>
            </a:r>
          </a:p>
        </p:txBody>
      </p:sp>
      <p:sp>
        <p:nvSpPr>
          <p:cNvPr id="13315" name="Content Placeholder 5"/>
          <p:cNvSpPr>
            <a:spLocks noGrp="1"/>
          </p:cNvSpPr>
          <p:nvPr>
            <p:ph idx="1"/>
          </p:nvPr>
        </p:nvSpPr>
        <p:spPr>
          <a:xfrm>
            <a:off x="457200" y="1589649"/>
            <a:ext cx="8305800" cy="4212957"/>
          </a:xfrm>
        </p:spPr>
        <p:txBody>
          <a:bodyPr>
            <a:normAutofit/>
          </a:bodyPr>
          <a:lstStyle/>
          <a:p>
            <a:pPr marL="0" indent="0">
              <a:buNone/>
            </a:pPr>
            <a:r>
              <a:rPr lang="en-US" dirty="0"/>
              <a:t>Generative models are models which learn to output samples which belong to a target distribution.</a:t>
            </a:r>
          </a:p>
          <a:p>
            <a:pPr marL="0" indent="0">
              <a:buNone/>
            </a:pPr>
            <a:r>
              <a:rPr lang="en-US" altLang="en-US" sz="2600" dirty="0"/>
              <a:t>The target distribution can be anything, from points on a graph to images to human speech or videos</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pic>
        <p:nvPicPr>
          <p:cNvPr id="2050" name="Picture 2" descr="Generative and Discriminative Models | LearnOpenCV #">
            <a:extLst>
              <a:ext uri="{FF2B5EF4-FFF2-40B4-BE49-F238E27FC236}">
                <a16:creationId xmlns:a16="http://schemas.microsoft.com/office/drawing/2014/main" id="{7705551E-708D-5DFA-FC53-41F8D813A2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6154"/>
          <a:stretch/>
        </p:blipFill>
        <p:spPr bwMode="auto">
          <a:xfrm>
            <a:off x="2426677" y="3210439"/>
            <a:ext cx="3847514" cy="2508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6084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Deterministic Outputs</a:t>
            </a:r>
          </a:p>
        </p:txBody>
      </p:sp>
      <p:sp>
        <p:nvSpPr>
          <p:cNvPr id="13315" name="Content Placeholder 5"/>
          <p:cNvSpPr>
            <a:spLocks noGrp="1"/>
          </p:cNvSpPr>
          <p:nvPr>
            <p:ph idx="1"/>
          </p:nvPr>
        </p:nvSpPr>
        <p:spPr>
          <a:xfrm>
            <a:off x="457200" y="1589649"/>
            <a:ext cx="3868615" cy="4212957"/>
          </a:xfrm>
        </p:spPr>
        <p:txBody>
          <a:bodyPr>
            <a:normAutofit fontScale="92500" lnSpcReduction="20000"/>
          </a:bodyPr>
          <a:lstStyle/>
          <a:p>
            <a:pPr marL="0" indent="0">
              <a:buNone/>
            </a:pPr>
            <a:r>
              <a:rPr lang="en-US" altLang="en-US" sz="2800" dirty="0"/>
              <a:t>We don’t want the same output each time we call a model, but c</a:t>
            </a:r>
            <a:r>
              <a:rPr lang="en-US" dirty="0"/>
              <a:t>omputers are fundamentally deterministic systems, which poses a challenge in generating diversified outputs from the same input.</a:t>
            </a:r>
            <a:endParaRPr lang="en-US" altLang="en-US" sz="2600" dirty="0"/>
          </a:p>
          <a:p>
            <a:pPr marL="0" indent="0">
              <a:buNone/>
            </a:pPr>
            <a:r>
              <a:rPr lang="en-US" altLang="en-US" sz="2600" dirty="0"/>
              <a:t>We can fix this by sampling a point from a source distribution, typically a standard gaussian distribution</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pic>
        <p:nvPicPr>
          <p:cNvPr id="3" name="Picture 2">
            <a:extLst>
              <a:ext uri="{FF2B5EF4-FFF2-40B4-BE49-F238E27FC236}">
                <a16:creationId xmlns:a16="http://schemas.microsoft.com/office/drawing/2014/main" id="{7443FCAB-4206-219E-568D-0513614D1CDE}"/>
              </a:ext>
            </a:extLst>
          </p:cNvPr>
          <p:cNvPicPr>
            <a:picLocks noChangeAspect="1"/>
          </p:cNvPicPr>
          <p:nvPr/>
        </p:nvPicPr>
        <p:blipFill>
          <a:blip r:embed="rId3"/>
          <a:stretch>
            <a:fillRect/>
          </a:stretch>
        </p:blipFill>
        <p:spPr>
          <a:xfrm>
            <a:off x="5397621" y="1272111"/>
            <a:ext cx="2424016" cy="2424016"/>
          </a:xfrm>
          <a:prstGeom prst="rect">
            <a:avLst/>
          </a:prstGeom>
        </p:spPr>
      </p:pic>
      <p:pic>
        <p:nvPicPr>
          <p:cNvPr id="6" name="Picture 5">
            <a:extLst>
              <a:ext uri="{FF2B5EF4-FFF2-40B4-BE49-F238E27FC236}">
                <a16:creationId xmlns:a16="http://schemas.microsoft.com/office/drawing/2014/main" id="{4A7AE3D8-75AB-6B2E-32AE-C10290894E1A}"/>
              </a:ext>
            </a:extLst>
          </p:cNvPr>
          <p:cNvPicPr>
            <a:picLocks noChangeAspect="1"/>
          </p:cNvPicPr>
          <p:nvPr/>
        </p:nvPicPr>
        <p:blipFill>
          <a:blip r:embed="rId4"/>
          <a:stretch>
            <a:fillRect/>
          </a:stretch>
        </p:blipFill>
        <p:spPr>
          <a:xfrm>
            <a:off x="5397621" y="3784965"/>
            <a:ext cx="2424016" cy="2424016"/>
          </a:xfrm>
          <a:prstGeom prst="rect">
            <a:avLst/>
          </a:prstGeom>
        </p:spPr>
      </p:pic>
    </p:spTree>
    <p:extLst>
      <p:ext uri="{BB962C8B-B14F-4D97-AF65-F5344CB8AC3E}">
        <p14:creationId xmlns:p14="http://schemas.microsoft.com/office/powerpoint/2010/main" val="3318408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Well-Posed vs. Ill-Posed Problem</a:t>
            </a:r>
          </a:p>
        </p:txBody>
      </p:sp>
      <p:sp>
        <p:nvSpPr>
          <p:cNvPr id="13315" name="Content Placeholder 5"/>
          <p:cNvSpPr>
            <a:spLocks noGrp="1"/>
          </p:cNvSpPr>
          <p:nvPr>
            <p:ph idx="1"/>
          </p:nvPr>
        </p:nvSpPr>
        <p:spPr>
          <a:xfrm>
            <a:off x="457200" y="1589649"/>
            <a:ext cx="8305800" cy="4212957"/>
          </a:xfrm>
        </p:spPr>
        <p:txBody>
          <a:bodyPr>
            <a:normAutofit/>
          </a:bodyPr>
          <a:lstStyle/>
          <a:p>
            <a:pPr marL="0" indent="0">
              <a:buNone/>
            </a:pPr>
            <a:r>
              <a:rPr lang="en-US" dirty="0"/>
              <a:t>In mathematics, well-posed problems are defined as problems that have a unique, correct solution for a given set of inputs. On the other hand, ill-posed problems do not satisfy these criteria, often having multiple valid solutions or no solution at all. </a:t>
            </a:r>
          </a:p>
          <a:p>
            <a:pPr marL="0" indent="0">
              <a:buNone/>
            </a:pPr>
            <a:r>
              <a:rPr lang="en-US" dirty="0"/>
              <a:t>Traditional loss functions like cross entropy and mean square error (MSE) assume that problems are well-posed, which means they expect one correct answer. However, in generative modeling, the goal is to model a distribution, not a single outcome. </a:t>
            </a:r>
            <a:endParaRPr lang="en-US" altLang="en-US" sz="2600" dirty="0"/>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spTree>
    <p:extLst>
      <p:ext uri="{BB962C8B-B14F-4D97-AF65-F5344CB8AC3E}">
        <p14:creationId xmlns:p14="http://schemas.microsoft.com/office/powerpoint/2010/main" val="2615907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Naive Approach</a:t>
            </a:r>
          </a:p>
        </p:txBody>
      </p:sp>
      <p:sp>
        <p:nvSpPr>
          <p:cNvPr id="13315" name="Content Placeholder 5"/>
          <p:cNvSpPr>
            <a:spLocks noGrp="1"/>
          </p:cNvSpPr>
          <p:nvPr>
            <p:ph idx="1"/>
          </p:nvPr>
        </p:nvSpPr>
        <p:spPr>
          <a:xfrm>
            <a:off x="457200" y="1589649"/>
            <a:ext cx="8305800" cy="4212957"/>
          </a:xfrm>
        </p:spPr>
        <p:txBody>
          <a:bodyPr>
            <a:normAutofit/>
          </a:bodyPr>
          <a:lstStyle/>
          <a:p>
            <a:pPr marL="0" indent="0">
              <a:buNone/>
            </a:pPr>
            <a:r>
              <a:rPr lang="en-US" dirty="0"/>
              <a:t>What happens if we ignore this?</a:t>
            </a:r>
          </a:p>
          <a:p>
            <a:pPr marL="0" indent="0">
              <a:buNone/>
            </a:pPr>
            <a:r>
              <a:rPr lang="en-US" altLang="en-US" sz="2600" dirty="0"/>
              <a:t>We start our training by sampling a point from the target distribution. Then we sample one from the source distribution (standard gaussian) and feed it to our model.</a:t>
            </a:r>
          </a:p>
          <a:p>
            <a:pPr marL="0" indent="0">
              <a:buNone/>
            </a:pPr>
            <a:r>
              <a:rPr lang="en-US" altLang="en-US" sz="2600" dirty="0"/>
              <a:t>The MSE loss function will only reward the model if it outputs the point which was sampled from the target distribution, but the model has no information about which one was sampled.</a:t>
            </a:r>
          </a:p>
          <a:p>
            <a:pPr marL="0" indent="0">
              <a:buNone/>
            </a:pPr>
            <a:r>
              <a:rPr lang="en-US" altLang="en-US" sz="2600" dirty="0"/>
              <a:t>The result is that the model predicts the mean of the distribution to minimize the distance.</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spTree>
    <p:extLst>
      <p:ext uri="{BB962C8B-B14F-4D97-AF65-F5344CB8AC3E}">
        <p14:creationId xmlns:p14="http://schemas.microsoft.com/office/powerpoint/2010/main" val="2694501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Well-Posed vs. Ill-Posed Problem</a:t>
            </a:r>
          </a:p>
        </p:txBody>
      </p:sp>
      <p:sp>
        <p:nvSpPr>
          <p:cNvPr id="13315" name="Content Placeholder 5"/>
          <p:cNvSpPr>
            <a:spLocks noGrp="1"/>
          </p:cNvSpPr>
          <p:nvPr>
            <p:ph idx="1"/>
          </p:nvPr>
        </p:nvSpPr>
        <p:spPr>
          <a:xfrm>
            <a:off x="457200" y="1589649"/>
            <a:ext cx="8305800" cy="4212957"/>
          </a:xfrm>
        </p:spPr>
        <p:txBody>
          <a:bodyPr>
            <a:normAutofit/>
          </a:bodyPr>
          <a:lstStyle/>
          <a:p>
            <a:pPr marL="0" indent="0">
              <a:buNone/>
            </a:pPr>
            <a:r>
              <a:rPr lang="en-US" dirty="0"/>
              <a:t>To solve this we need a loss function that can reward any sample which belongs to the target distribution. This mean being able to measure the likelihood of a generated sample being from the target distribution. </a:t>
            </a:r>
            <a:br>
              <a:rPr lang="en-US" dirty="0"/>
            </a:br>
            <a:endParaRPr lang="en-US" dirty="0"/>
          </a:p>
          <a:p>
            <a:pPr marL="0" indent="0">
              <a:buNone/>
            </a:pPr>
            <a:r>
              <a:rPr lang="en-US" dirty="0"/>
              <a:t>Unfortunately there is usually no mathematical function for this purpose. </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pic>
        <p:nvPicPr>
          <p:cNvPr id="3074" name="Picture 2" descr="Diffusion Models in hi-fi Image Synthesis | by Bijula Ratheesh | Medium">
            <a:extLst>
              <a:ext uri="{FF2B5EF4-FFF2-40B4-BE49-F238E27FC236}">
                <a16:creationId xmlns:a16="http://schemas.microsoft.com/office/drawing/2014/main" id="{DDA0FAD6-E096-E7E4-11F3-D76AB8E7E7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616" t="67428" r="33461" b="1849"/>
          <a:stretch/>
        </p:blipFill>
        <p:spPr bwMode="auto">
          <a:xfrm>
            <a:off x="3137096" y="4157003"/>
            <a:ext cx="1730326" cy="1568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946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Solutions</a:t>
            </a:r>
          </a:p>
        </p:txBody>
      </p:sp>
      <p:sp>
        <p:nvSpPr>
          <p:cNvPr id="13315" name="Content Placeholder 5"/>
          <p:cNvSpPr>
            <a:spLocks noGrp="1"/>
          </p:cNvSpPr>
          <p:nvPr>
            <p:ph idx="1"/>
          </p:nvPr>
        </p:nvSpPr>
        <p:spPr>
          <a:xfrm>
            <a:off x="457200" y="1589649"/>
            <a:ext cx="8305800" cy="4212957"/>
          </a:xfrm>
        </p:spPr>
        <p:txBody>
          <a:bodyPr>
            <a:normAutofit/>
          </a:bodyPr>
          <a:lstStyle/>
          <a:p>
            <a:pPr marL="0" indent="0">
              <a:buNone/>
            </a:pPr>
            <a:r>
              <a:rPr lang="en-US" dirty="0"/>
              <a:t>The first solution involves creating this loss function using a second neural network which tells us how likely sample is to belong to the target distribution. This forms the basis of Generative Adversarial Networks (GANs).</a:t>
            </a:r>
            <a:endParaRPr lang="en-US" altLang="en-US" sz="2600" dirty="0"/>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pic>
        <p:nvPicPr>
          <p:cNvPr id="6" name="Picture 5">
            <a:extLst>
              <a:ext uri="{FF2B5EF4-FFF2-40B4-BE49-F238E27FC236}">
                <a16:creationId xmlns:a16="http://schemas.microsoft.com/office/drawing/2014/main" id="{0E855129-F332-AF94-F206-67E56529E1C3}"/>
              </a:ext>
            </a:extLst>
          </p:cNvPr>
          <p:cNvPicPr>
            <a:picLocks noChangeAspect="1"/>
          </p:cNvPicPr>
          <p:nvPr/>
        </p:nvPicPr>
        <p:blipFill>
          <a:blip r:embed="rId3"/>
          <a:stretch>
            <a:fillRect/>
          </a:stretch>
        </p:blipFill>
        <p:spPr>
          <a:xfrm>
            <a:off x="1893497" y="3152225"/>
            <a:ext cx="4788658" cy="2810278"/>
          </a:xfrm>
          <a:prstGeom prst="rect">
            <a:avLst/>
          </a:prstGeom>
        </p:spPr>
      </p:pic>
    </p:spTree>
    <p:extLst>
      <p:ext uri="{BB962C8B-B14F-4D97-AF65-F5344CB8AC3E}">
        <p14:creationId xmlns:p14="http://schemas.microsoft.com/office/powerpoint/2010/main" val="2948099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Solutions</a:t>
            </a:r>
          </a:p>
        </p:txBody>
      </p:sp>
      <p:sp>
        <p:nvSpPr>
          <p:cNvPr id="13315" name="Content Placeholder 5"/>
          <p:cNvSpPr>
            <a:spLocks noGrp="1"/>
          </p:cNvSpPr>
          <p:nvPr>
            <p:ph idx="1"/>
          </p:nvPr>
        </p:nvSpPr>
        <p:spPr>
          <a:xfrm>
            <a:off x="457200" y="1589649"/>
            <a:ext cx="8305800" cy="4212957"/>
          </a:xfrm>
        </p:spPr>
        <p:txBody>
          <a:bodyPr>
            <a:normAutofit/>
          </a:bodyPr>
          <a:lstStyle/>
          <a:p>
            <a:pPr marL="0" indent="0">
              <a:buNone/>
            </a:pPr>
            <a:r>
              <a:rPr lang="en-US" dirty="0"/>
              <a:t>The second approach is to </a:t>
            </a:r>
            <a:r>
              <a:rPr lang="en-US" dirty="0" err="1"/>
              <a:t>reparameterize</a:t>
            </a:r>
            <a:r>
              <a:rPr lang="en-US" dirty="0"/>
              <a:t> the problem so that it becomes well-posed and thus has only one correct solution, allowing the use of traditional loss functions like MSE. This is the base of Variational Autoencoders and Diffusion Models.</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pic>
        <p:nvPicPr>
          <p:cNvPr id="4098" name="Picture 2" descr="Autoencoders, Variational Autoencoders (VAE) and β-VAE | by Rushikesh  Shende | Medium">
            <a:extLst>
              <a:ext uri="{FF2B5EF4-FFF2-40B4-BE49-F238E27FC236}">
                <a16:creationId xmlns:a16="http://schemas.microsoft.com/office/drawing/2014/main" id="{1E0A8003-61A0-FCEB-08D7-0EC4D94E3C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8487" y="3429000"/>
            <a:ext cx="5001969" cy="2598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778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Model Size</a:t>
            </a:r>
          </a:p>
        </p:txBody>
      </p:sp>
      <p:sp>
        <p:nvSpPr>
          <p:cNvPr id="13315" name="Content Placeholder 5"/>
          <p:cNvSpPr>
            <a:spLocks noGrp="1"/>
          </p:cNvSpPr>
          <p:nvPr>
            <p:ph idx="1"/>
          </p:nvPr>
        </p:nvSpPr>
        <p:spPr>
          <a:xfrm>
            <a:off x="457200" y="1589649"/>
            <a:ext cx="8305800" cy="4212957"/>
          </a:xfrm>
        </p:spPr>
        <p:txBody>
          <a:bodyPr>
            <a:normAutofit/>
          </a:bodyPr>
          <a:lstStyle/>
          <a:p>
            <a:pPr marL="0" indent="0">
              <a:buNone/>
            </a:pPr>
            <a:r>
              <a:rPr lang="en-US" dirty="0"/>
              <a:t>The complexity of a neural network is often indicated by its number of parameters. A higher number of parameters typically signifies greater expressive power, enabling the model to capture more intricate patterns. </a:t>
            </a:r>
          </a:p>
          <a:p>
            <a:pPr marL="0" indent="0">
              <a:buNone/>
            </a:pPr>
            <a:r>
              <a:rPr lang="en-US" dirty="0"/>
              <a:t>The number of layers is know as depth, while the size of the activations is know as width.</a:t>
            </a:r>
          </a:p>
          <a:p>
            <a:pPr marL="0" indent="0">
              <a:buNone/>
            </a:pPr>
            <a:r>
              <a:rPr lang="en-US" dirty="0"/>
              <a:t>In practice, models tend to perform best with about 4-30 layer, since Fully Connected layers have input x output parameters we adjust the width so we achieve our target parameter count with a depth in this range</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spTree>
    <p:extLst>
      <p:ext uri="{BB962C8B-B14F-4D97-AF65-F5344CB8AC3E}">
        <p14:creationId xmlns:p14="http://schemas.microsoft.com/office/powerpoint/2010/main" val="2115833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Model Size</a:t>
            </a:r>
          </a:p>
        </p:txBody>
      </p:sp>
      <p:sp>
        <p:nvSpPr>
          <p:cNvPr id="13315" name="Content Placeholder 5"/>
          <p:cNvSpPr>
            <a:spLocks noGrp="1"/>
          </p:cNvSpPr>
          <p:nvPr>
            <p:ph idx="1"/>
          </p:nvPr>
        </p:nvSpPr>
        <p:spPr>
          <a:xfrm>
            <a:off x="457200" y="1589649"/>
            <a:ext cx="8305800" cy="4212957"/>
          </a:xfrm>
        </p:spPr>
        <p:txBody>
          <a:bodyPr>
            <a:normAutofit/>
          </a:bodyPr>
          <a:lstStyle/>
          <a:p>
            <a:pPr marL="0" indent="0">
              <a:buNone/>
            </a:pPr>
            <a:r>
              <a:rPr lang="en-US" dirty="0"/>
              <a:t>Ballpark estimates</a:t>
            </a:r>
          </a:p>
          <a:p>
            <a:r>
              <a:rPr lang="en-US" b="1" dirty="0"/>
              <a:t>Small Models</a:t>
            </a:r>
            <a:r>
              <a:rPr lang="en-US" dirty="0"/>
              <a:t>: Up to 100k parameters for fast training and iterations, work with small datasets.</a:t>
            </a:r>
          </a:p>
          <a:p>
            <a:r>
              <a:rPr lang="en-US" b="1" dirty="0"/>
              <a:t>Medium Models</a:t>
            </a:r>
            <a:r>
              <a:rPr lang="en-US" dirty="0"/>
              <a:t>: 1M to 100M parameters to learn more complex functions</a:t>
            </a:r>
          </a:p>
          <a:p>
            <a:r>
              <a:rPr lang="en-US" b="1" dirty="0"/>
              <a:t>Big Models</a:t>
            </a:r>
            <a:r>
              <a:rPr lang="en-US" dirty="0"/>
              <a:t>: &gt;1B parameters, exemplify state-of-the-art commercial capabilities, require GPU clusters and 1B+ data points (Stable Diffusion, ChatGPT, </a:t>
            </a:r>
            <a:r>
              <a:rPr lang="en-US" dirty="0" err="1"/>
              <a:t>etc</a:t>
            </a:r>
            <a:r>
              <a:rPr lang="en-US" dirty="0"/>
              <a:t>…)</a:t>
            </a:r>
          </a:p>
          <a:p>
            <a:pPr marL="0" indent="0">
              <a:buNone/>
            </a:pPr>
            <a:endParaRPr lang="en-US" dirty="0"/>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spTree>
    <p:extLst>
      <p:ext uri="{BB962C8B-B14F-4D97-AF65-F5344CB8AC3E}">
        <p14:creationId xmlns:p14="http://schemas.microsoft.com/office/powerpoint/2010/main" val="862040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Naive</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sp>
        <p:nvSpPr>
          <p:cNvPr id="2" name="Rectangle 1">
            <a:extLst>
              <a:ext uri="{FF2B5EF4-FFF2-40B4-BE49-F238E27FC236}">
                <a16:creationId xmlns:a16="http://schemas.microsoft.com/office/drawing/2014/main" id="{D8098B05-AA07-7DD4-9210-7629F7D4694E}"/>
              </a:ext>
            </a:extLst>
          </p:cNvPr>
          <p:cNvSpPr/>
          <p:nvPr/>
        </p:nvSpPr>
        <p:spPr>
          <a:xfrm>
            <a:off x="1582615" y="1685995"/>
            <a:ext cx="562707"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2</a:t>
            </a:r>
          </a:p>
        </p:txBody>
      </p:sp>
      <p:sp>
        <p:nvSpPr>
          <p:cNvPr id="3" name="Rectangle 2">
            <a:extLst>
              <a:ext uri="{FF2B5EF4-FFF2-40B4-BE49-F238E27FC236}">
                <a16:creationId xmlns:a16="http://schemas.microsoft.com/office/drawing/2014/main" id="{FAF33967-CD6E-E114-1249-DC8BBCA10ED4}"/>
              </a:ext>
            </a:extLst>
          </p:cNvPr>
          <p:cNvSpPr/>
          <p:nvPr/>
        </p:nvSpPr>
        <p:spPr>
          <a:xfrm>
            <a:off x="1153548" y="2435106"/>
            <a:ext cx="1420837"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64</a:t>
            </a:r>
          </a:p>
        </p:txBody>
      </p:sp>
      <p:sp>
        <p:nvSpPr>
          <p:cNvPr id="6" name="Rectangle 5">
            <a:extLst>
              <a:ext uri="{FF2B5EF4-FFF2-40B4-BE49-F238E27FC236}">
                <a16:creationId xmlns:a16="http://schemas.microsoft.com/office/drawing/2014/main" id="{6251FA47-BFD3-629D-512F-02492FE31186}"/>
              </a:ext>
            </a:extLst>
          </p:cNvPr>
          <p:cNvSpPr/>
          <p:nvPr/>
        </p:nvSpPr>
        <p:spPr>
          <a:xfrm>
            <a:off x="1153548" y="4735171"/>
            <a:ext cx="1420837"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64</a:t>
            </a:r>
          </a:p>
        </p:txBody>
      </p:sp>
      <p:sp>
        <p:nvSpPr>
          <p:cNvPr id="7" name="Rectangle 6">
            <a:extLst>
              <a:ext uri="{FF2B5EF4-FFF2-40B4-BE49-F238E27FC236}">
                <a16:creationId xmlns:a16="http://schemas.microsoft.com/office/drawing/2014/main" id="{4EB65ADA-CA3B-4847-1413-21E6F5019053}"/>
              </a:ext>
            </a:extLst>
          </p:cNvPr>
          <p:cNvSpPr/>
          <p:nvPr/>
        </p:nvSpPr>
        <p:spPr>
          <a:xfrm>
            <a:off x="1153548" y="3192417"/>
            <a:ext cx="1420837"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64</a:t>
            </a:r>
          </a:p>
        </p:txBody>
      </p:sp>
      <p:sp>
        <p:nvSpPr>
          <p:cNvPr id="8" name="Rectangle 7">
            <a:extLst>
              <a:ext uri="{FF2B5EF4-FFF2-40B4-BE49-F238E27FC236}">
                <a16:creationId xmlns:a16="http://schemas.microsoft.com/office/drawing/2014/main" id="{7D43044F-2577-4798-48B7-ACF7162D68BC}"/>
              </a:ext>
            </a:extLst>
          </p:cNvPr>
          <p:cNvSpPr/>
          <p:nvPr/>
        </p:nvSpPr>
        <p:spPr>
          <a:xfrm>
            <a:off x="1153548" y="3963794"/>
            <a:ext cx="1420837"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64</a:t>
            </a:r>
          </a:p>
        </p:txBody>
      </p:sp>
      <p:sp>
        <p:nvSpPr>
          <p:cNvPr id="9" name="Rectangle 8">
            <a:extLst>
              <a:ext uri="{FF2B5EF4-FFF2-40B4-BE49-F238E27FC236}">
                <a16:creationId xmlns:a16="http://schemas.microsoft.com/office/drawing/2014/main" id="{A88B84D4-8004-FA5A-03D0-003BA6D5AD5C}"/>
              </a:ext>
            </a:extLst>
          </p:cNvPr>
          <p:cNvSpPr/>
          <p:nvPr/>
        </p:nvSpPr>
        <p:spPr>
          <a:xfrm>
            <a:off x="1582615" y="5478411"/>
            <a:ext cx="562707"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2</a:t>
            </a:r>
          </a:p>
        </p:txBody>
      </p:sp>
      <p:sp>
        <p:nvSpPr>
          <p:cNvPr id="10" name="Rectangle 9">
            <a:extLst>
              <a:ext uri="{FF2B5EF4-FFF2-40B4-BE49-F238E27FC236}">
                <a16:creationId xmlns:a16="http://schemas.microsoft.com/office/drawing/2014/main" id="{864DAF8F-D049-5DE4-1757-3AAF9EB28E13}"/>
              </a:ext>
            </a:extLst>
          </p:cNvPr>
          <p:cNvSpPr/>
          <p:nvPr/>
        </p:nvSpPr>
        <p:spPr>
          <a:xfrm>
            <a:off x="3746693" y="1669334"/>
            <a:ext cx="1420837"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Dense</a:t>
            </a:r>
          </a:p>
        </p:txBody>
      </p:sp>
      <p:sp>
        <p:nvSpPr>
          <p:cNvPr id="11" name="Rectangle 10">
            <a:extLst>
              <a:ext uri="{FF2B5EF4-FFF2-40B4-BE49-F238E27FC236}">
                <a16:creationId xmlns:a16="http://schemas.microsoft.com/office/drawing/2014/main" id="{C0CED92E-D864-5A2B-A5BB-AE22C54AA07C}"/>
              </a:ext>
            </a:extLst>
          </p:cNvPr>
          <p:cNvSpPr/>
          <p:nvPr/>
        </p:nvSpPr>
        <p:spPr>
          <a:xfrm>
            <a:off x="3746693" y="2435106"/>
            <a:ext cx="1420837"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BatchNorm</a:t>
            </a:r>
          </a:p>
        </p:txBody>
      </p:sp>
      <p:sp>
        <p:nvSpPr>
          <p:cNvPr id="12" name="Rectangle 11">
            <a:extLst>
              <a:ext uri="{FF2B5EF4-FFF2-40B4-BE49-F238E27FC236}">
                <a16:creationId xmlns:a16="http://schemas.microsoft.com/office/drawing/2014/main" id="{1EFF8C37-D359-1C3E-D9D9-EFBBA70082A3}"/>
              </a:ext>
            </a:extLst>
          </p:cNvPr>
          <p:cNvSpPr/>
          <p:nvPr/>
        </p:nvSpPr>
        <p:spPr>
          <a:xfrm>
            <a:off x="3746692" y="3192417"/>
            <a:ext cx="1420837"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ReLU</a:t>
            </a:r>
          </a:p>
        </p:txBody>
      </p:sp>
      <p:sp>
        <p:nvSpPr>
          <p:cNvPr id="13" name="Rectangle 12">
            <a:extLst>
              <a:ext uri="{FF2B5EF4-FFF2-40B4-BE49-F238E27FC236}">
                <a16:creationId xmlns:a16="http://schemas.microsoft.com/office/drawing/2014/main" id="{47CB1D53-CF07-9495-683E-6728291830FD}"/>
              </a:ext>
            </a:extLst>
          </p:cNvPr>
          <p:cNvSpPr/>
          <p:nvPr/>
        </p:nvSpPr>
        <p:spPr>
          <a:xfrm>
            <a:off x="6339838" y="2435106"/>
            <a:ext cx="2269590"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Sample from target</a:t>
            </a:r>
          </a:p>
        </p:txBody>
      </p:sp>
      <p:sp>
        <p:nvSpPr>
          <p:cNvPr id="14" name="Rectangle 13">
            <a:extLst>
              <a:ext uri="{FF2B5EF4-FFF2-40B4-BE49-F238E27FC236}">
                <a16:creationId xmlns:a16="http://schemas.microsoft.com/office/drawing/2014/main" id="{2DAEE4BB-5A4E-601B-0A09-CB9BEC4A78A8}"/>
              </a:ext>
            </a:extLst>
          </p:cNvPr>
          <p:cNvSpPr/>
          <p:nvPr/>
        </p:nvSpPr>
        <p:spPr>
          <a:xfrm>
            <a:off x="6339838" y="1637935"/>
            <a:ext cx="2269590"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Sample from source</a:t>
            </a:r>
          </a:p>
        </p:txBody>
      </p:sp>
      <p:sp>
        <p:nvSpPr>
          <p:cNvPr id="15" name="Rectangle 14">
            <a:extLst>
              <a:ext uri="{FF2B5EF4-FFF2-40B4-BE49-F238E27FC236}">
                <a16:creationId xmlns:a16="http://schemas.microsoft.com/office/drawing/2014/main" id="{F086E4B1-C210-FD93-0CA6-F091D3828541}"/>
              </a:ext>
            </a:extLst>
          </p:cNvPr>
          <p:cNvSpPr/>
          <p:nvPr/>
        </p:nvSpPr>
        <p:spPr>
          <a:xfrm>
            <a:off x="6339836" y="3232277"/>
            <a:ext cx="2269590"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Run model with source input</a:t>
            </a:r>
          </a:p>
        </p:txBody>
      </p:sp>
      <p:sp>
        <p:nvSpPr>
          <p:cNvPr id="16" name="Rectangle 15">
            <a:extLst>
              <a:ext uri="{FF2B5EF4-FFF2-40B4-BE49-F238E27FC236}">
                <a16:creationId xmlns:a16="http://schemas.microsoft.com/office/drawing/2014/main" id="{3ED66DF2-3CF1-0B3B-281B-1CB7BF697344}"/>
              </a:ext>
            </a:extLst>
          </p:cNvPr>
          <p:cNvSpPr/>
          <p:nvPr/>
        </p:nvSpPr>
        <p:spPr>
          <a:xfrm>
            <a:off x="6339838" y="4047241"/>
            <a:ext cx="2269590"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Compare prediction with target with loss</a:t>
            </a:r>
          </a:p>
        </p:txBody>
      </p:sp>
      <p:sp>
        <p:nvSpPr>
          <p:cNvPr id="17" name="Rectangle 16">
            <a:extLst>
              <a:ext uri="{FF2B5EF4-FFF2-40B4-BE49-F238E27FC236}">
                <a16:creationId xmlns:a16="http://schemas.microsoft.com/office/drawing/2014/main" id="{D9DFFD39-7097-856B-2CAE-B9BC855BCAD6}"/>
              </a:ext>
            </a:extLst>
          </p:cNvPr>
          <p:cNvSpPr/>
          <p:nvPr/>
        </p:nvSpPr>
        <p:spPr>
          <a:xfrm>
            <a:off x="6339836" y="4862205"/>
            <a:ext cx="2269590" cy="6049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Update parameters</a:t>
            </a:r>
          </a:p>
        </p:txBody>
      </p:sp>
      <p:sp>
        <p:nvSpPr>
          <p:cNvPr id="18" name="TextBox 17">
            <a:extLst>
              <a:ext uri="{FF2B5EF4-FFF2-40B4-BE49-F238E27FC236}">
                <a16:creationId xmlns:a16="http://schemas.microsoft.com/office/drawing/2014/main" id="{120914E8-96BF-961D-E6B8-D79D2013B456}"/>
              </a:ext>
            </a:extLst>
          </p:cNvPr>
          <p:cNvSpPr txBox="1"/>
          <p:nvPr/>
        </p:nvSpPr>
        <p:spPr>
          <a:xfrm>
            <a:off x="1153548" y="1187129"/>
            <a:ext cx="1479572" cy="400110"/>
          </a:xfrm>
          <a:prstGeom prst="rect">
            <a:avLst/>
          </a:prstGeom>
          <a:solidFill>
            <a:schemeClr val="bg2"/>
          </a:solidFill>
        </p:spPr>
        <p:txBody>
          <a:bodyPr wrap="none" rtlCol="0">
            <a:spAutoFit/>
          </a:bodyPr>
          <a:lstStyle/>
          <a:p>
            <a:r>
              <a:rPr lang="it-IT" sz="2000" dirty="0"/>
              <a:t>Architecture</a:t>
            </a:r>
          </a:p>
        </p:txBody>
      </p:sp>
      <p:sp>
        <p:nvSpPr>
          <p:cNvPr id="19" name="TextBox 18">
            <a:extLst>
              <a:ext uri="{FF2B5EF4-FFF2-40B4-BE49-F238E27FC236}">
                <a16:creationId xmlns:a16="http://schemas.microsoft.com/office/drawing/2014/main" id="{0E4C7760-60D1-0BD2-918A-2340ADD5CC27}"/>
              </a:ext>
            </a:extLst>
          </p:cNvPr>
          <p:cNvSpPr txBox="1"/>
          <p:nvPr/>
        </p:nvSpPr>
        <p:spPr>
          <a:xfrm>
            <a:off x="4085053" y="1192572"/>
            <a:ext cx="744114" cy="400110"/>
          </a:xfrm>
          <a:prstGeom prst="rect">
            <a:avLst/>
          </a:prstGeom>
          <a:solidFill>
            <a:schemeClr val="bg2"/>
          </a:solidFill>
        </p:spPr>
        <p:txBody>
          <a:bodyPr wrap="none" rtlCol="0">
            <a:spAutoFit/>
          </a:bodyPr>
          <a:lstStyle/>
          <a:p>
            <a:r>
              <a:rPr lang="it-IT" sz="2000" dirty="0"/>
              <a:t>Block</a:t>
            </a:r>
          </a:p>
        </p:txBody>
      </p:sp>
      <p:sp>
        <p:nvSpPr>
          <p:cNvPr id="20" name="TextBox 19">
            <a:extLst>
              <a:ext uri="{FF2B5EF4-FFF2-40B4-BE49-F238E27FC236}">
                <a16:creationId xmlns:a16="http://schemas.microsoft.com/office/drawing/2014/main" id="{0F5591A6-D775-583E-2628-2F0D525B92E5}"/>
              </a:ext>
            </a:extLst>
          </p:cNvPr>
          <p:cNvSpPr txBox="1"/>
          <p:nvPr/>
        </p:nvSpPr>
        <p:spPr>
          <a:xfrm>
            <a:off x="6685152" y="1187129"/>
            <a:ext cx="1578958" cy="400110"/>
          </a:xfrm>
          <a:prstGeom prst="rect">
            <a:avLst/>
          </a:prstGeom>
          <a:solidFill>
            <a:schemeClr val="bg2"/>
          </a:solidFill>
        </p:spPr>
        <p:txBody>
          <a:bodyPr wrap="none" rtlCol="0">
            <a:spAutoFit/>
          </a:bodyPr>
          <a:lstStyle/>
          <a:p>
            <a:r>
              <a:rPr lang="it-IT" sz="2000" dirty="0"/>
              <a:t>Training Loop</a:t>
            </a:r>
          </a:p>
        </p:txBody>
      </p:sp>
    </p:spTree>
    <p:extLst>
      <p:ext uri="{BB962C8B-B14F-4D97-AF65-F5344CB8AC3E}">
        <p14:creationId xmlns:p14="http://schemas.microsoft.com/office/powerpoint/2010/main" val="1274242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Variational Autoencoder</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pic>
        <p:nvPicPr>
          <p:cNvPr id="2" name="Picture 2" descr="Autoencoders, Variational Autoencoders (VAE) and β-VAE | by Rushikesh  Shende | Medium">
            <a:extLst>
              <a:ext uri="{FF2B5EF4-FFF2-40B4-BE49-F238E27FC236}">
                <a16:creationId xmlns:a16="http://schemas.microsoft.com/office/drawing/2014/main" id="{415C8E4B-0437-D674-2D6C-E6D52BC8232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75779" y="1553919"/>
            <a:ext cx="8111021" cy="421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5100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Variational Autoencoder</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sp>
        <p:nvSpPr>
          <p:cNvPr id="3" name="Content Placeholder 2">
            <a:extLst>
              <a:ext uri="{FF2B5EF4-FFF2-40B4-BE49-F238E27FC236}">
                <a16:creationId xmlns:a16="http://schemas.microsoft.com/office/drawing/2014/main" id="{4A246A8C-4C38-1D18-36A5-456C19CCC12A}"/>
              </a:ext>
            </a:extLst>
          </p:cNvPr>
          <p:cNvSpPr>
            <a:spLocks noGrp="1"/>
          </p:cNvSpPr>
          <p:nvPr>
            <p:ph idx="1"/>
          </p:nvPr>
        </p:nvSpPr>
        <p:spPr/>
        <p:txBody>
          <a:bodyPr/>
          <a:lstStyle/>
          <a:p>
            <a:pPr marL="0" indent="0">
              <a:buNone/>
            </a:pPr>
            <a:r>
              <a:rPr lang="it-IT" dirty="0"/>
              <a:t>We force the encoder to output a normal distribution</a:t>
            </a:r>
          </a:p>
          <a:p>
            <a:pPr marL="0" indent="0">
              <a:buNone/>
            </a:pPr>
            <a:r>
              <a:rPr lang="it-IT" dirty="0"/>
              <a:t>The decoder input now contains information about the sampled point, because the encoder put it there</a:t>
            </a:r>
          </a:p>
          <a:p>
            <a:pPr marL="0" indent="0">
              <a:buNone/>
            </a:pPr>
            <a:r>
              <a:rPr lang="it-IT" dirty="0"/>
              <a:t>Problem is now well posed</a:t>
            </a:r>
          </a:p>
          <a:p>
            <a:pPr marL="0" indent="0">
              <a:buNone/>
            </a:pPr>
            <a:r>
              <a:rPr lang="it-IT" dirty="0"/>
              <a:t>We throw away the encoder and have a decoder which takes samples from a normal distribution as input and returns samples from the target distribution</a:t>
            </a:r>
          </a:p>
        </p:txBody>
      </p:sp>
    </p:spTree>
    <p:extLst>
      <p:ext uri="{BB962C8B-B14F-4D97-AF65-F5344CB8AC3E}">
        <p14:creationId xmlns:p14="http://schemas.microsoft.com/office/powerpoint/2010/main" val="2782529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Variational Autoencoder</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sp>
        <p:nvSpPr>
          <p:cNvPr id="3" name="Content Placeholder 2">
            <a:extLst>
              <a:ext uri="{FF2B5EF4-FFF2-40B4-BE49-F238E27FC236}">
                <a16:creationId xmlns:a16="http://schemas.microsoft.com/office/drawing/2014/main" id="{4A246A8C-4C38-1D18-36A5-456C19CCC12A}"/>
              </a:ext>
            </a:extLst>
          </p:cNvPr>
          <p:cNvSpPr>
            <a:spLocks noGrp="1"/>
          </p:cNvSpPr>
          <p:nvPr>
            <p:ph idx="1"/>
          </p:nvPr>
        </p:nvSpPr>
        <p:spPr>
          <a:xfrm>
            <a:off x="70339" y="1295400"/>
            <a:ext cx="8841544" cy="5009866"/>
          </a:xfrm>
        </p:spPr>
        <p:txBody>
          <a:bodyPr>
            <a:normAutofit/>
          </a:bodyPr>
          <a:lstStyle/>
          <a:p>
            <a:pPr marL="0" indent="0">
              <a:buNone/>
            </a:pPr>
            <a:r>
              <a:rPr lang="it-IT" dirty="0"/>
              <a:t>How do we force the encoder to output a normal distribution?</a:t>
            </a:r>
          </a:p>
          <a:p>
            <a:pPr marL="0" indent="0">
              <a:buNone/>
            </a:pPr>
            <a:r>
              <a:rPr lang="it-IT" dirty="0"/>
              <a:t>We predict mean and variance rather than a point, sample from that distribution and feed it to the decoder.</a:t>
            </a:r>
          </a:p>
          <a:p>
            <a:pPr marL="0" indent="0">
              <a:buNone/>
            </a:pPr>
            <a:r>
              <a:rPr lang="it-IT" dirty="0"/>
              <a:t>To ensure mean and variance are closer to a standard gaussian, we apply an additional term named KL Divergence</a:t>
            </a:r>
          </a:p>
          <a:p>
            <a:pPr marL="0" indent="0" algn="just">
              <a:buNone/>
            </a:pPr>
            <a:r>
              <a:rPr lang="it-IT" sz="2000" b="1" dirty="0">
                <a:latin typeface="Consolas" panose="020B0609020204030204" pitchFamily="49" charset="0"/>
              </a:rPr>
              <a:t>mean = latent[:,:2] </a:t>
            </a:r>
          </a:p>
          <a:p>
            <a:pPr marL="0" indent="0" algn="just">
              <a:buNone/>
            </a:pPr>
            <a:r>
              <a:rPr lang="it-IT" sz="2000" b="1" dirty="0">
                <a:latin typeface="Consolas" panose="020B0609020204030204" pitchFamily="49" charset="0"/>
              </a:rPr>
              <a:t>logVar = latent[:,2:] </a:t>
            </a:r>
          </a:p>
          <a:p>
            <a:pPr marL="0" indent="0" algn="just">
              <a:buNone/>
            </a:pPr>
            <a:r>
              <a:rPr lang="it-IT" sz="2000" b="1" dirty="0">
                <a:latin typeface="Consolas" panose="020B0609020204030204" pitchFamily="49" charset="0"/>
              </a:rPr>
              <a:t>std = exp(0.5 * logVar) </a:t>
            </a:r>
          </a:p>
          <a:p>
            <a:pPr marL="0" indent="0" algn="just">
              <a:buNone/>
            </a:pPr>
            <a:r>
              <a:rPr lang="it-IT" sz="2000" b="1" dirty="0">
                <a:latin typeface="Consolas" panose="020B0609020204030204" pitchFamily="49" charset="0"/>
              </a:rPr>
              <a:t>latentSample = mean + std * gaussian_noise</a:t>
            </a:r>
          </a:p>
          <a:p>
            <a:pPr marL="0" indent="0" algn="just">
              <a:buNone/>
            </a:pPr>
            <a:r>
              <a:rPr lang="it-IT" sz="2000" b="1" dirty="0">
                <a:latin typeface="Consolas" panose="020B0609020204030204" pitchFamily="49" charset="0"/>
              </a:rPr>
              <a:t>kl = mean**2 + EXP(logVar) - logVar </a:t>
            </a:r>
          </a:p>
          <a:p>
            <a:pPr marL="0" indent="0">
              <a:buNone/>
            </a:pPr>
            <a:endParaRPr lang="it-IT" dirty="0"/>
          </a:p>
        </p:txBody>
      </p:sp>
      <p:sp>
        <p:nvSpPr>
          <p:cNvPr id="2" name="Rectangle 1">
            <a:extLst>
              <a:ext uri="{FF2B5EF4-FFF2-40B4-BE49-F238E27FC236}">
                <a16:creationId xmlns:a16="http://schemas.microsoft.com/office/drawing/2014/main" id="{CEACFF39-8EED-7643-2CC7-02F76F9E8E1A}"/>
              </a:ext>
            </a:extLst>
          </p:cNvPr>
          <p:cNvSpPr/>
          <p:nvPr/>
        </p:nvSpPr>
        <p:spPr>
          <a:xfrm>
            <a:off x="147711" y="3679761"/>
            <a:ext cx="6105378" cy="1674056"/>
          </a:xfrm>
          <a:prstGeom prst="rect">
            <a:avLst/>
          </a:prstGeom>
          <a:solidFill>
            <a:srgbClr val="000000">
              <a:alpha val="5882"/>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5" name="TextBox 4">
            <a:extLst>
              <a:ext uri="{FF2B5EF4-FFF2-40B4-BE49-F238E27FC236}">
                <a16:creationId xmlns:a16="http://schemas.microsoft.com/office/drawing/2014/main" id="{452D37EB-03B2-4B28-E6C0-5FF33403236B}"/>
              </a:ext>
            </a:extLst>
          </p:cNvPr>
          <p:cNvSpPr txBox="1"/>
          <p:nvPr/>
        </p:nvSpPr>
        <p:spPr>
          <a:xfrm>
            <a:off x="699867" y="5630326"/>
            <a:ext cx="7744265" cy="461665"/>
          </a:xfrm>
          <a:prstGeom prst="rect">
            <a:avLst/>
          </a:prstGeom>
          <a:solidFill>
            <a:schemeClr val="bg2"/>
          </a:solidFill>
        </p:spPr>
        <p:txBody>
          <a:bodyPr wrap="square" rtlCol="0">
            <a:spAutoFit/>
          </a:bodyPr>
          <a:lstStyle/>
          <a:p>
            <a:r>
              <a:rPr lang="it-IT" sz="2400" b="1" dirty="0">
                <a:solidFill>
                  <a:schemeClr val="accent2"/>
                </a:solidFill>
              </a:rPr>
              <a:t>The encoder output size is 2x the input size of the decoder</a:t>
            </a:r>
          </a:p>
        </p:txBody>
      </p:sp>
    </p:spTree>
    <p:extLst>
      <p:ext uri="{BB962C8B-B14F-4D97-AF65-F5344CB8AC3E}">
        <p14:creationId xmlns:p14="http://schemas.microsoft.com/office/powerpoint/2010/main" val="3999583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Variational Autoencoder</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sp>
        <p:nvSpPr>
          <p:cNvPr id="3" name="Content Placeholder 2">
            <a:extLst>
              <a:ext uri="{FF2B5EF4-FFF2-40B4-BE49-F238E27FC236}">
                <a16:creationId xmlns:a16="http://schemas.microsoft.com/office/drawing/2014/main" id="{4A246A8C-4C38-1D18-36A5-456C19CCC12A}"/>
              </a:ext>
            </a:extLst>
          </p:cNvPr>
          <p:cNvSpPr>
            <a:spLocks noGrp="1"/>
          </p:cNvSpPr>
          <p:nvPr>
            <p:ph idx="1"/>
          </p:nvPr>
        </p:nvSpPr>
        <p:spPr/>
        <p:txBody>
          <a:bodyPr/>
          <a:lstStyle/>
          <a:p>
            <a:pPr marL="0" indent="0">
              <a:buNone/>
            </a:pPr>
            <a:r>
              <a:rPr lang="it-IT" dirty="0"/>
              <a:t>What’s the catch?</a:t>
            </a:r>
          </a:p>
          <a:p>
            <a:pPr marL="0" indent="0">
              <a:buNone/>
            </a:pPr>
            <a:r>
              <a:rPr lang="it-IT" dirty="0"/>
              <a:t>If the latent were perfectly gaussian, we would go back to the naive scenario</a:t>
            </a:r>
          </a:p>
          <a:p>
            <a:pPr marL="0" indent="0">
              <a:buNone/>
            </a:pPr>
            <a:r>
              <a:rPr lang="it-IT" dirty="0"/>
              <a:t>The encoder output is not a perfect gaussian distribution, as it contains information about the sample</a:t>
            </a:r>
          </a:p>
          <a:p>
            <a:pPr marL="0" indent="0">
              <a:buNone/>
            </a:pPr>
            <a:r>
              <a:rPr lang="it-IT" dirty="0"/>
              <a:t>By removing the encoder after training, we run the decoder with a distribution that’s slighly different than the one it was trained with</a:t>
            </a:r>
          </a:p>
          <a:p>
            <a:pPr marL="0" indent="0">
              <a:buNone/>
            </a:pPr>
            <a:r>
              <a:rPr lang="it-IT" dirty="0"/>
              <a:t>Result: lower generation quality compared to other methods, but easy and fast training and well behaved latent space</a:t>
            </a:r>
          </a:p>
        </p:txBody>
      </p:sp>
    </p:spTree>
    <p:extLst>
      <p:ext uri="{BB962C8B-B14F-4D97-AF65-F5344CB8AC3E}">
        <p14:creationId xmlns:p14="http://schemas.microsoft.com/office/powerpoint/2010/main" val="1696476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The dataset</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sp>
        <p:nvSpPr>
          <p:cNvPr id="2" name="Rectangle 1">
            <a:extLst>
              <a:ext uri="{FF2B5EF4-FFF2-40B4-BE49-F238E27FC236}">
                <a16:creationId xmlns:a16="http://schemas.microsoft.com/office/drawing/2014/main" id="{C1327A5A-B609-A515-DB2A-88D3AA088802}"/>
              </a:ext>
            </a:extLst>
          </p:cNvPr>
          <p:cNvSpPr/>
          <p:nvPr/>
        </p:nvSpPr>
        <p:spPr>
          <a:xfrm>
            <a:off x="203982" y="3397854"/>
            <a:ext cx="8482817" cy="2920106"/>
          </a:xfrm>
          <a:prstGeom prst="rect">
            <a:avLst/>
          </a:prstGeom>
          <a:solidFill>
            <a:srgbClr val="000000">
              <a:alpha val="5882"/>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it-IT" b="1" dirty="0">
                <a:solidFill>
                  <a:schemeClr val="tx1"/>
                </a:solidFill>
                <a:latin typeface="Consolas" panose="020B0609020204030204" pitchFamily="49" charset="0"/>
              </a:rPr>
              <a:t>def swissRoll(samples=1024, noise=0.5):</a:t>
            </a:r>
          </a:p>
          <a:p>
            <a:r>
              <a:rPr lang="it-IT" b="1" dirty="0">
                <a:solidFill>
                  <a:schemeClr val="tx1"/>
                </a:solidFill>
                <a:latin typeface="Consolas" panose="020B0609020204030204" pitchFamily="49" charset="0"/>
              </a:rPr>
              <a:t> t = 1.5 * 3.14 * (1 + 2 * tf.random.uniform((samples, 1)))</a:t>
            </a:r>
          </a:p>
          <a:p>
            <a:r>
              <a:rPr lang="it-IT" b="1" dirty="0">
                <a:solidFill>
                  <a:schemeClr val="tx1"/>
                </a:solidFill>
                <a:latin typeface="Consolas" panose="020B0609020204030204" pitchFamily="49" charset="0"/>
              </a:rPr>
              <a:t> x = t * tf.math.cos(t)</a:t>
            </a:r>
          </a:p>
          <a:p>
            <a:r>
              <a:rPr lang="it-IT" b="1" dirty="0">
                <a:solidFill>
                  <a:schemeClr val="tx1"/>
                </a:solidFill>
                <a:latin typeface="Consolas" panose="020B0609020204030204" pitchFamily="49" charset="0"/>
              </a:rPr>
              <a:t> y = t * tf.math.sin(t)</a:t>
            </a:r>
          </a:p>
          <a:p>
            <a:r>
              <a:rPr lang="it-IT" b="1" dirty="0">
                <a:solidFill>
                  <a:schemeClr val="tx1"/>
                </a:solidFill>
                <a:latin typeface="Consolas" panose="020B0609020204030204" pitchFamily="49" charset="0"/>
              </a:rPr>
              <a:t> X = tf.concat([x, y], axis=1)</a:t>
            </a:r>
          </a:p>
          <a:p>
            <a:r>
              <a:rPr lang="it-IT" b="1" dirty="0">
                <a:solidFill>
                  <a:schemeClr val="tx1"/>
                </a:solidFill>
                <a:latin typeface="Consolas" panose="020B0609020204030204" pitchFamily="49" charset="0"/>
              </a:rPr>
              <a:t> if noise &gt; 0:</a:t>
            </a:r>
          </a:p>
          <a:p>
            <a:r>
              <a:rPr lang="it-IT" b="1" dirty="0">
                <a:solidFill>
                  <a:schemeClr val="tx1"/>
                </a:solidFill>
                <a:latin typeface="Consolas" panose="020B0609020204030204" pitchFamily="49" charset="0"/>
              </a:rPr>
              <a:t>  X += noise * tf.random.normal(shape=(samples, 2))</a:t>
            </a:r>
          </a:p>
          <a:p>
            <a:r>
              <a:rPr lang="it-IT" b="1" dirty="0">
                <a:solidFill>
                  <a:schemeClr val="tx1"/>
                </a:solidFill>
                <a:latin typeface="Consolas" panose="020B0609020204030204" pitchFamily="49" charset="0"/>
              </a:rPr>
              <a:t> return X</a:t>
            </a:r>
          </a:p>
          <a:p>
            <a:pPr algn="ctr"/>
            <a:endParaRPr lang="it-IT" b="1" dirty="0">
              <a:solidFill>
                <a:schemeClr val="tx1"/>
              </a:solidFill>
              <a:latin typeface="Consolas" panose="020B0609020204030204" pitchFamily="49" charset="0"/>
            </a:endParaRPr>
          </a:p>
        </p:txBody>
      </p:sp>
      <p:pic>
        <p:nvPicPr>
          <p:cNvPr id="6" name="Picture 5">
            <a:extLst>
              <a:ext uri="{FF2B5EF4-FFF2-40B4-BE49-F238E27FC236}">
                <a16:creationId xmlns:a16="http://schemas.microsoft.com/office/drawing/2014/main" id="{A5931D7C-6E24-24D3-7B1F-AD323008825D}"/>
              </a:ext>
            </a:extLst>
          </p:cNvPr>
          <p:cNvPicPr>
            <a:picLocks noChangeAspect="1"/>
          </p:cNvPicPr>
          <p:nvPr/>
        </p:nvPicPr>
        <p:blipFill>
          <a:blip r:embed="rId3"/>
          <a:stretch>
            <a:fillRect/>
          </a:stretch>
        </p:blipFill>
        <p:spPr>
          <a:xfrm>
            <a:off x="3308252" y="1325879"/>
            <a:ext cx="2009336" cy="2009336"/>
          </a:xfrm>
          <a:prstGeom prst="rect">
            <a:avLst/>
          </a:prstGeom>
        </p:spPr>
      </p:pic>
    </p:spTree>
    <p:extLst>
      <p:ext uri="{BB962C8B-B14F-4D97-AF65-F5344CB8AC3E}">
        <p14:creationId xmlns:p14="http://schemas.microsoft.com/office/powerpoint/2010/main" val="201125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4"/>
          <p:cNvSpPr>
            <a:spLocks noGrp="1"/>
          </p:cNvSpPr>
          <p:nvPr>
            <p:ph type="title"/>
          </p:nvPr>
        </p:nvSpPr>
        <p:spPr>
          <a:xfrm>
            <a:off x="457200" y="221542"/>
            <a:ext cx="8229600" cy="917941"/>
          </a:xfrm>
        </p:spPr>
        <p:txBody>
          <a:bodyPr>
            <a:normAutofit/>
          </a:bodyPr>
          <a:lstStyle/>
          <a:p>
            <a:r>
              <a:rPr lang="it-IT" dirty="0"/>
              <a:t>Suggested Hyperparameters</a:t>
            </a:r>
          </a:p>
        </p:txBody>
      </p:sp>
      <p:sp>
        <p:nvSpPr>
          <p:cNvPr id="4" name="TextBox 3"/>
          <p:cNvSpPr txBox="1"/>
          <p:nvPr/>
        </p:nvSpPr>
        <p:spPr>
          <a:xfrm>
            <a:off x="7315200" y="6581775"/>
            <a:ext cx="1812925" cy="276225"/>
          </a:xfrm>
          <a:prstGeom prst="rect">
            <a:avLst/>
          </a:prstGeom>
          <a:noFill/>
        </p:spPr>
        <p:txBody>
          <a:bodyPr wrap="none">
            <a:spAutoFit/>
          </a:bodyPr>
          <a:lstStyle/>
          <a:p>
            <a:pPr>
              <a:defRPr/>
            </a:pPr>
            <a:r>
              <a:rPr lang="en-US" sz="1200" dirty="0">
                <a:solidFill>
                  <a:srgbClr val="FFFFFF">
                    <a:lumMod val="65000"/>
                  </a:srgbClr>
                </a:solidFill>
              </a:rPr>
              <a:t>Slide credit: L. </a:t>
            </a:r>
            <a:r>
              <a:rPr lang="en-US" sz="1200" dirty="0" err="1">
                <a:solidFill>
                  <a:srgbClr val="FFFFFF">
                    <a:lumMod val="65000"/>
                  </a:srgbClr>
                </a:solidFill>
              </a:rPr>
              <a:t>Lazebnik</a:t>
            </a:r>
            <a:endParaRPr lang="en-US" sz="1200" dirty="0">
              <a:solidFill>
                <a:srgbClr val="FFFFFF">
                  <a:lumMod val="65000"/>
                </a:srgbClr>
              </a:solidFill>
            </a:endParaRPr>
          </a:p>
        </p:txBody>
      </p:sp>
      <p:pic>
        <p:nvPicPr>
          <p:cNvPr id="6" name="Picture 5">
            <a:extLst>
              <a:ext uri="{FF2B5EF4-FFF2-40B4-BE49-F238E27FC236}">
                <a16:creationId xmlns:a16="http://schemas.microsoft.com/office/drawing/2014/main" id="{A5931D7C-6E24-24D3-7B1F-AD323008825D}"/>
              </a:ext>
            </a:extLst>
          </p:cNvPr>
          <p:cNvPicPr>
            <a:picLocks noChangeAspect="1"/>
          </p:cNvPicPr>
          <p:nvPr/>
        </p:nvPicPr>
        <p:blipFill>
          <a:blip r:embed="rId3"/>
          <a:stretch>
            <a:fillRect/>
          </a:stretch>
        </p:blipFill>
        <p:spPr>
          <a:xfrm>
            <a:off x="3308252" y="1325879"/>
            <a:ext cx="2009336" cy="2009336"/>
          </a:xfrm>
          <a:prstGeom prst="rect">
            <a:avLst/>
          </a:prstGeom>
        </p:spPr>
      </p:pic>
      <p:sp>
        <p:nvSpPr>
          <p:cNvPr id="3" name="Content Placeholder 2">
            <a:extLst>
              <a:ext uri="{FF2B5EF4-FFF2-40B4-BE49-F238E27FC236}">
                <a16:creationId xmlns:a16="http://schemas.microsoft.com/office/drawing/2014/main" id="{49F97C93-A967-95CD-8DEB-1D5E31DD63B1}"/>
              </a:ext>
            </a:extLst>
          </p:cNvPr>
          <p:cNvSpPr>
            <a:spLocks noGrp="1"/>
          </p:cNvSpPr>
          <p:nvPr>
            <p:ph idx="1"/>
          </p:nvPr>
        </p:nvSpPr>
        <p:spPr>
          <a:xfrm>
            <a:off x="457200" y="3429000"/>
            <a:ext cx="8229600" cy="2876266"/>
          </a:xfrm>
        </p:spPr>
        <p:txBody>
          <a:bodyPr>
            <a:normAutofit/>
          </a:bodyPr>
          <a:lstStyle/>
          <a:p>
            <a:pPr marL="0" indent="0">
              <a:buNone/>
            </a:pPr>
            <a:r>
              <a:rPr lang="it-IT" dirty="0"/>
              <a:t>1024 batch size</a:t>
            </a:r>
          </a:p>
          <a:p>
            <a:pPr marL="0" indent="0">
              <a:buNone/>
            </a:pPr>
            <a:r>
              <a:rPr lang="it-IT" dirty="0"/>
              <a:t>1000 steps</a:t>
            </a:r>
          </a:p>
          <a:p>
            <a:pPr marL="0" indent="0">
              <a:buNone/>
            </a:pPr>
            <a:r>
              <a:rPr lang="it-IT" dirty="0"/>
              <a:t>Adam optimizer with 10^-3 learning rate</a:t>
            </a:r>
          </a:p>
          <a:p>
            <a:pPr marL="0" indent="0">
              <a:buNone/>
            </a:pPr>
            <a:r>
              <a:rPr lang="it-IT" dirty="0"/>
              <a:t>Less than 20k parameters</a:t>
            </a:r>
          </a:p>
        </p:txBody>
      </p:sp>
    </p:spTree>
    <p:extLst>
      <p:ext uri="{BB962C8B-B14F-4D97-AF65-F5344CB8AC3E}">
        <p14:creationId xmlns:p14="http://schemas.microsoft.com/office/powerpoint/2010/main" val="2955451535"/>
      </p:ext>
    </p:extLst>
  </p:cSld>
  <p:clrMapOvr>
    <a:masterClrMapping/>
  </p:clrMapOvr>
</p:sld>
</file>

<file path=ppt/theme/theme1.xml><?xml version="1.0" encoding="utf-8"?>
<a:theme xmlns:a="http://schemas.openxmlformats.org/drawingml/2006/main" name="1_Meeting Bonani Feb201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solidFill>
          <a:schemeClr val="bg2"/>
        </a:solidFill>
      </a:spPr>
      <a:bodyPr wrap="none" rtlCol="0">
        <a:spAutoFit/>
      </a:bodyPr>
      <a:lstStyle>
        <a:defPPr>
          <a:defRPr sz="2000"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14517</TotalTime>
  <Words>1111</Words>
  <Application>Microsoft Office PowerPoint</Application>
  <PresentationFormat>On-screen Show (4:3)</PresentationFormat>
  <Paragraphs>122</Paragraphs>
  <Slides>18</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1_Meeting Bonani Feb2012</vt:lpstr>
      <vt:lpstr>ML in Applications</vt:lpstr>
      <vt:lpstr>Introduction to Generative Models</vt:lpstr>
      <vt:lpstr>Deterministic Outputs</vt:lpstr>
      <vt:lpstr>Deterministic Outputs</vt:lpstr>
      <vt:lpstr>Well-Posed vs. Ill-Posed Problem</vt:lpstr>
      <vt:lpstr>Naive Approach</vt:lpstr>
      <vt:lpstr>Well-Posed vs. Ill-Posed Problem</vt:lpstr>
      <vt:lpstr>Solutions</vt:lpstr>
      <vt:lpstr>Solutions</vt:lpstr>
      <vt:lpstr>Model Size</vt:lpstr>
      <vt:lpstr>Model Size</vt:lpstr>
      <vt:lpstr>Naive</vt:lpstr>
      <vt:lpstr>Variational Autoencoder</vt:lpstr>
      <vt:lpstr>Variational Autoencoder</vt:lpstr>
      <vt:lpstr>Variational Autoencoder</vt:lpstr>
      <vt:lpstr>Variational Autoencoder</vt:lpstr>
      <vt:lpstr>The dataset</vt:lpstr>
      <vt:lpstr>Suggested Hyperparameters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Santa Di Cataldo</dc:creator>
  <cp:lastModifiedBy>Alessio Mascolini</cp:lastModifiedBy>
  <cp:revision>130</cp:revision>
  <cp:lastPrinted>2017-05-29T09:35:07Z</cp:lastPrinted>
  <dcterms:created xsi:type="dcterms:W3CDTF">2017-04-10T12:56:42Z</dcterms:created>
  <dcterms:modified xsi:type="dcterms:W3CDTF">2024-05-21T08:41:53Z</dcterms:modified>
</cp:coreProperties>
</file>