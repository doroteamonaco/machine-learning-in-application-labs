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0" r:id="rId1"/>
  </p:sldMasterIdLst>
  <p:notesMasterIdLst>
    <p:notesMasterId r:id="rId11"/>
  </p:notesMasterIdLst>
  <p:sldIdLst>
    <p:sldId id="434" r:id="rId2"/>
    <p:sldId id="258" r:id="rId3"/>
    <p:sldId id="437" r:id="rId4"/>
    <p:sldId id="447" r:id="rId5"/>
    <p:sldId id="448" r:id="rId6"/>
    <p:sldId id="446" r:id="rId7"/>
    <p:sldId id="451" r:id="rId8"/>
    <p:sldId id="452" r:id="rId9"/>
    <p:sldId id="450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600" autoAdjust="0"/>
    <p:restoredTop sz="83673"/>
  </p:normalViewPr>
  <p:slideViewPr>
    <p:cSldViewPr snapToGrid="0" snapToObjects="1">
      <p:cViewPr varScale="1">
        <p:scale>
          <a:sx n="136" d="100"/>
          <a:sy n="136" d="100"/>
        </p:scale>
        <p:origin x="5568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FEFBD-B2F2-B14C-AD35-564F360BAA08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>Second level</a:t>
            </a:r>
          </a:p>
          <a:p>
            <a:pPr lvl="2"/>
            <a:r>
              <a:rPr lang="it-IT"/>
              <a:t>Third level</a:t>
            </a:r>
          </a:p>
          <a:p>
            <a:pPr lvl="3"/>
            <a:r>
              <a:rPr lang="it-IT"/>
              <a:t>Fourth level</a:t>
            </a:r>
          </a:p>
          <a:p>
            <a:pPr lvl="4"/>
            <a:r>
              <a:rPr lang="it-IT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8E557F-1D95-1843-BA81-09134688EC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101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8E557F-1D95-1843-BA81-09134688EC4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117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4336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1433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0"/>
              </a:spcBef>
            </a:pPr>
            <a:fld id="{BFDD2C53-8076-BF49-9136-A5627810224C}" type="slidenum">
              <a:rPr lang="en-US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89208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4336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1433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0"/>
              </a:spcBef>
            </a:pPr>
            <a:fld id="{BFDD2C53-8076-BF49-9136-A5627810224C}" type="slidenum">
              <a:rPr lang="en-US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2769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4336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1433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0"/>
              </a:spcBef>
            </a:pPr>
            <a:fld id="{BFDD2C53-8076-BF49-9136-A5627810224C}" type="slidenum">
              <a:rPr lang="en-US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4582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56F77-CA93-6DFF-8D31-64EFD4776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Slide Image Placeholder 1">
            <a:extLst>
              <a:ext uri="{FF2B5EF4-FFF2-40B4-BE49-F238E27FC236}">
                <a16:creationId xmlns:a16="http://schemas.microsoft.com/office/drawing/2014/main" id="{361D1E87-C7E2-9366-2BCD-EAD4962DC4B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43362" name="Notes Placeholder 2">
            <a:extLst>
              <a:ext uri="{FF2B5EF4-FFF2-40B4-BE49-F238E27FC236}">
                <a16:creationId xmlns:a16="http://schemas.microsoft.com/office/drawing/2014/main" id="{CF515D4B-D111-BAF2-DCCF-0C1C238D337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143363" name="Slide Number Placeholder 3">
            <a:extLst>
              <a:ext uri="{FF2B5EF4-FFF2-40B4-BE49-F238E27FC236}">
                <a16:creationId xmlns:a16="http://schemas.microsoft.com/office/drawing/2014/main" id="{AF553978-C65B-EF72-E189-8E0BA40D0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0"/>
              </a:spcBef>
            </a:pPr>
            <a:fld id="{BFDD2C53-8076-BF49-9136-A5627810224C}" type="slidenum">
              <a:rPr lang="en-US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7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88871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09777-141A-6C38-A1B0-BC01F959C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Slide Image Placeholder 1">
            <a:extLst>
              <a:ext uri="{FF2B5EF4-FFF2-40B4-BE49-F238E27FC236}">
                <a16:creationId xmlns:a16="http://schemas.microsoft.com/office/drawing/2014/main" id="{83589B64-39C6-46F3-5FA3-045D523C79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43362" name="Notes Placeholder 2">
            <a:extLst>
              <a:ext uri="{FF2B5EF4-FFF2-40B4-BE49-F238E27FC236}">
                <a16:creationId xmlns:a16="http://schemas.microsoft.com/office/drawing/2014/main" id="{625AD0EB-C2BE-2F98-38B8-466D78E27E1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143363" name="Slide Number Placeholder 3">
            <a:extLst>
              <a:ext uri="{FF2B5EF4-FFF2-40B4-BE49-F238E27FC236}">
                <a16:creationId xmlns:a16="http://schemas.microsoft.com/office/drawing/2014/main" id="{9E3A52D7-AAA4-371D-2AD4-A98CBB0F7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0"/>
              </a:spcBef>
            </a:pPr>
            <a:fld id="{BFDD2C53-8076-BF49-9136-A5627810224C}" type="slidenum">
              <a:rPr lang="en-US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8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1678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4121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6400801"/>
            <a:ext cx="9144000" cy="4572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ML in Applications</a:t>
            </a:r>
            <a:endParaRPr lang="it-IT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2"/>
          </a:xfrm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09866"/>
          </a:xfrm>
        </p:spPr>
        <p:txBody>
          <a:bodyPr/>
          <a:lstStyle>
            <a:lvl1pPr>
              <a:lnSpc>
                <a:spcPct val="85000"/>
              </a:lnSpc>
              <a:defRPr/>
            </a:lvl1pPr>
            <a:lvl2pPr>
              <a:lnSpc>
                <a:spcPct val="85000"/>
              </a:lnSpc>
              <a:defRPr/>
            </a:lvl2pPr>
            <a:lvl3pPr>
              <a:lnSpc>
                <a:spcPct val="85000"/>
              </a:lnSpc>
              <a:defRPr/>
            </a:lvl3pPr>
            <a:lvl4pPr>
              <a:lnSpc>
                <a:spcPct val="85000"/>
              </a:lnSpc>
              <a:defRPr/>
            </a:lvl4pPr>
            <a:lvl5pPr>
              <a:lnSpc>
                <a:spcPct val="8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7326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2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4032913" cy="4885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E7F78-57DB-4877-ACE4-A1E3B418FD5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800"/>
            </a:lvl1pPr>
          </a:lstStyle>
          <a:p>
            <a:fld id="{D9309533-C290-4B1B-A9DE-ACC185DAD9D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35691" y="1297674"/>
            <a:ext cx="4032913" cy="4885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6422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100B0-E227-42C2-BF93-3C44C372809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D9309533-C290-4B1B-A9DE-ACC185DAD9D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484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rrowhead 1 column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799891" y="718279"/>
            <a:ext cx="7444935" cy="624590"/>
          </a:xfrm>
          <a:prstGeom prst="rect">
            <a:avLst/>
          </a:prstGeom>
        </p:spPr>
        <p:txBody>
          <a:bodyPr vert="horz"/>
          <a:lstStyle>
            <a:lvl1pPr algn="l">
              <a:defRPr sz="3600" baseline="0"/>
            </a:lvl1pPr>
          </a:lstStyle>
          <a:p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to</a:t>
            </a:r>
            <a:r>
              <a:rPr lang="sv-SE" dirty="0"/>
              <a:t> </a:t>
            </a:r>
            <a:r>
              <a:rPr lang="sv-SE" dirty="0" err="1"/>
              <a:t>add</a:t>
            </a:r>
            <a:r>
              <a:rPr lang="sv-SE" dirty="0"/>
              <a:t> </a:t>
            </a:r>
            <a:r>
              <a:rPr lang="sv-SE" dirty="0" err="1"/>
              <a:t>title</a:t>
            </a:r>
            <a:endParaRPr lang="sv-SE" dirty="0"/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10" hasCustomPrompt="1"/>
          </p:nvPr>
        </p:nvSpPr>
        <p:spPr>
          <a:xfrm>
            <a:off x="799891" y="1422183"/>
            <a:ext cx="7444935" cy="4623851"/>
          </a:xfrm>
          <a:prstGeom prst="rect">
            <a:avLst/>
          </a:prstGeom>
        </p:spPr>
        <p:txBody>
          <a:bodyPr vert="horz"/>
          <a:lstStyle>
            <a:lvl1pPr marL="268288" indent="-268288">
              <a:buFontTx/>
              <a:buNone/>
              <a:defRPr sz="2000"/>
            </a:lvl1pPr>
            <a:lvl2pPr marL="742950" indent="-285750">
              <a:buFont typeface="Arial"/>
              <a:buChar char="•"/>
              <a:defRPr sz="1800"/>
            </a:lvl2pPr>
            <a:lvl3pPr>
              <a:defRPr sz="1600"/>
            </a:lvl3pPr>
            <a:lvl4pPr marL="1600200" indent="-228600">
              <a:buFont typeface="Arial"/>
              <a:buChar char="•"/>
              <a:defRPr sz="1400"/>
            </a:lvl4pPr>
            <a:lvl5pPr marL="2057400" indent="-228600">
              <a:buFont typeface="Arial"/>
              <a:buChar char="•"/>
              <a:defRPr sz="1200" baseline="0"/>
            </a:lvl5pPr>
          </a:lstStyle>
          <a:p>
            <a:pPr lvl="0"/>
            <a:r>
              <a:rPr lang="sv-SE" dirty="0" err="1"/>
              <a:t>Click</a:t>
            </a:r>
            <a:r>
              <a:rPr lang="sv-SE" dirty="0"/>
              <a:t> to </a:t>
            </a:r>
            <a:r>
              <a:rPr lang="sv-SE" dirty="0" err="1"/>
              <a:t>edit</a:t>
            </a:r>
            <a:r>
              <a:rPr lang="sv-SE" dirty="0"/>
              <a:t> text</a:t>
            </a:r>
          </a:p>
          <a:p>
            <a:pPr lvl="1"/>
            <a:r>
              <a:rPr lang="sv-SE" dirty="0"/>
              <a:t>Second </a:t>
            </a:r>
            <a:r>
              <a:rPr lang="sv-SE" dirty="0" err="1"/>
              <a:t>level</a:t>
            </a:r>
            <a:endParaRPr lang="sv-SE" dirty="0"/>
          </a:p>
          <a:p>
            <a:pPr lvl="2"/>
            <a:r>
              <a:rPr lang="sv-SE" dirty="0" err="1"/>
              <a:t>Third</a:t>
            </a:r>
            <a:r>
              <a:rPr lang="sv-SE" dirty="0"/>
              <a:t> </a:t>
            </a:r>
            <a:r>
              <a:rPr lang="sv-SE" dirty="0" err="1"/>
              <a:t>level</a:t>
            </a:r>
            <a:endParaRPr lang="sv-SE" dirty="0"/>
          </a:p>
          <a:p>
            <a:pPr lvl="3"/>
            <a:r>
              <a:rPr lang="sv-SE" dirty="0" err="1"/>
              <a:t>Fourth</a:t>
            </a:r>
            <a:r>
              <a:rPr lang="sv-SE" dirty="0"/>
              <a:t> </a:t>
            </a:r>
            <a:r>
              <a:rPr lang="sv-SE" dirty="0" err="1"/>
              <a:t>level</a:t>
            </a:r>
            <a:endParaRPr lang="sv-SE" dirty="0"/>
          </a:p>
          <a:p>
            <a:pPr lvl="4"/>
            <a:r>
              <a:rPr lang="sv-SE" dirty="0" err="1"/>
              <a:t>Fifth</a:t>
            </a:r>
            <a:r>
              <a:rPr lang="sv-SE" dirty="0"/>
              <a:t> </a:t>
            </a:r>
            <a:r>
              <a:rPr lang="sv-SE" dirty="0" err="1"/>
              <a:t>level</a:t>
            </a:r>
            <a:endParaRPr lang="sv-SE" dirty="0"/>
          </a:p>
        </p:txBody>
      </p:sp>
      <p:sp>
        <p:nvSpPr>
          <p:cNvPr id="3" name="Platshållare för bildnumm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939B3E-C388-DC4F-B31A-4B360DF27421}" type="slidenum">
              <a:rPr lang="sv-SE" smtClean="0"/>
              <a:pPr/>
              <a:t>‹#›</a:t>
            </a:fld>
            <a:endParaRPr lang="sv-SE"/>
          </a:p>
        </p:txBody>
      </p:sp>
      <p:sp>
        <p:nvSpPr>
          <p:cNvPr id="5" name="textruta 4"/>
          <p:cNvSpPr txBox="1"/>
          <p:nvPr userDrawn="1"/>
        </p:nvSpPr>
        <p:spPr>
          <a:xfrm>
            <a:off x="374549" y="6201910"/>
            <a:ext cx="39666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800" dirty="0" err="1">
                <a:solidFill>
                  <a:prstClr val="black"/>
                </a:solidFill>
              </a:rPr>
              <a:t>www.arrowhead.eu</a:t>
            </a:r>
            <a:endParaRPr lang="sv-SE" sz="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98956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16635"/>
            <a:ext cx="8229600" cy="92636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64776"/>
            <a:ext cx="8229600" cy="488589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B2C4A-8B7E-446C-8D8F-EC128F0F363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5/7/2026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09533-C290-4B1B-A9DE-ACC185DAD9D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27324" y="6479227"/>
            <a:ext cx="609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2060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780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</p:sldLayoutIdLst>
  <p:transition spd="slow">
    <p:wipe dir="r"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lang="it-IT" sz="3600" b="1" kern="1200">
          <a:solidFill>
            <a:schemeClr val="tx1"/>
          </a:solidFill>
          <a:latin typeface="Cambria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85000"/>
        </a:lnSpc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85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85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85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85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066800"/>
            <a:ext cx="7772400" cy="2228851"/>
          </a:xfr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lvl="0"/>
            <a:r>
              <a:rPr lang="en-GB" i="1" dirty="0">
                <a:solidFill>
                  <a:schemeClr val="tx2">
                    <a:lumMod val="50000"/>
                  </a:schemeClr>
                </a:solidFill>
              </a:rPr>
              <a:t>ML </a:t>
            </a:r>
            <a:r>
              <a:rPr lang="en-GB" i="1">
                <a:solidFill>
                  <a:schemeClr val="tx2">
                    <a:lumMod val="50000"/>
                  </a:schemeClr>
                </a:solidFill>
              </a:rPr>
              <a:t>in Applications</a:t>
            </a:r>
            <a:endParaRPr lang="it-IT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9255" y="3603068"/>
            <a:ext cx="6463145" cy="1363281"/>
          </a:xfr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>
            <a:normAutofit/>
          </a:bodyPr>
          <a:lstStyle/>
          <a:p>
            <a:endParaRPr lang="en-US" sz="2400" b="1" i="1" dirty="0">
              <a:solidFill>
                <a:schemeClr val="accent2">
                  <a:lumMod val="75000"/>
                </a:schemeClr>
              </a:solidFill>
              <a:latin typeface="Cambria" pitchFamily="18" charset="0"/>
            </a:endParaRPr>
          </a:p>
          <a:p>
            <a:r>
              <a:rPr lang="en-US" sz="2400" b="1" i="1" dirty="0" err="1">
                <a:solidFill>
                  <a:schemeClr val="accent2">
                    <a:lumMod val="75000"/>
                  </a:schemeClr>
                </a:solidFill>
                <a:latin typeface="Cambria" pitchFamily="18" charset="0"/>
              </a:rPr>
              <a:t>Dipartimento</a:t>
            </a:r>
            <a:r>
              <a:rPr lang="en-US" sz="2400" b="1" i="1" dirty="0">
                <a:solidFill>
                  <a:schemeClr val="accent2">
                    <a:lumMod val="75000"/>
                  </a:schemeClr>
                </a:solidFill>
                <a:latin typeface="Cambria" pitchFamily="18" charset="0"/>
              </a:rPr>
              <a:t> di Automatica e Informatica </a:t>
            </a:r>
          </a:p>
          <a:p>
            <a:r>
              <a:rPr lang="en-US" sz="2400" b="1" i="1" dirty="0">
                <a:solidFill>
                  <a:schemeClr val="accent2">
                    <a:lumMod val="75000"/>
                  </a:schemeClr>
                </a:solidFill>
                <a:latin typeface="Cambria" pitchFamily="18" charset="0"/>
              </a:rPr>
              <a:t>Politecnico di Torino, Torino, ITALY</a:t>
            </a:r>
            <a:endParaRPr lang="it-IT" sz="2400" b="1" i="1" dirty="0">
              <a:solidFill>
                <a:schemeClr val="accent2">
                  <a:lumMod val="75000"/>
                </a:schemeClr>
              </a:solidFill>
              <a:latin typeface="Cambria" pitchFamily="18" charset="0"/>
            </a:endParaRPr>
          </a:p>
        </p:txBody>
      </p:sp>
      <p:pic>
        <p:nvPicPr>
          <p:cNvPr id="18434" name="Picture 2" descr="Logo_Poli_trasparente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5035624"/>
            <a:ext cx="1529588" cy="15245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02993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0734" y="1917405"/>
            <a:ext cx="7772400" cy="2228851"/>
          </a:xfr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lvl="0"/>
            <a:r>
              <a:rPr lang="en-GB" i="1" dirty="0">
                <a:solidFill>
                  <a:schemeClr val="tx2">
                    <a:lumMod val="50000"/>
                  </a:schemeClr>
                </a:solidFill>
              </a:rPr>
              <a:t>Anomaly Detection</a:t>
            </a:r>
            <a:endParaRPr lang="it-IT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099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Title 4"/>
          <p:cNvSpPr>
            <a:spLocks noGrp="1"/>
          </p:cNvSpPr>
          <p:nvPr>
            <p:ph type="title"/>
          </p:nvPr>
        </p:nvSpPr>
        <p:spPr>
          <a:xfrm>
            <a:off x="457200" y="221542"/>
            <a:ext cx="8229600" cy="91794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Anomaly Detection</a:t>
            </a:r>
          </a:p>
        </p:txBody>
      </p:sp>
      <p:sp>
        <p:nvSpPr>
          <p:cNvPr id="13315" name="Content Placeholder 5"/>
          <p:cNvSpPr>
            <a:spLocks noGrp="1"/>
          </p:cNvSpPr>
          <p:nvPr>
            <p:ph idx="1"/>
          </p:nvPr>
        </p:nvSpPr>
        <p:spPr>
          <a:xfrm>
            <a:off x="457200" y="1466715"/>
            <a:ext cx="4860388" cy="46704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600" dirty="0"/>
              <a:t>When building a classifier, you are creating a network that Is able to discern whether the data belongs to a certain distribution. Sometimes though, for example when monitoring a production line, you may want to create a system that learns the normal pattern of operation and detects any deviation.</a:t>
            </a:r>
          </a:p>
        </p:txBody>
      </p:sp>
      <p:pic>
        <p:nvPicPr>
          <p:cNvPr id="1028" name="Picture 4" descr="Sensors | Free Full-Text | Unsupervised Anomaly Detection for IoT-Based  Multivariate Time Series: Existing Solutions, Performance Analysis and  Future Directions">
            <a:extLst>
              <a:ext uri="{FF2B5EF4-FFF2-40B4-BE49-F238E27FC236}">
                <a16:creationId xmlns:a16="http://schemas.microsoft.com/office/drawing/2014/main" id="{D4EA6D44-2BD6-E64A-6751-CE9AE35AA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7588" y="2504049"/>
            <a:ext cx="3289339" cy="248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5907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Title 4"/>
          <p:cNvSpPr>
            <a:spLocks noGrp="1"/>
          </p:cNvSpPr>
          <p:nvPr>
            <p:ph type="title"/>
          </p:nvPr>
        </p:nvSpPr>
        <p:spPr>
          <a:xfrm>
            <a:off x="457200" y="221542"/>
            <a:ext cx="8229600" cy="91794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Anomaly Detection</a:t>
            </a:r>
          </a:p>
        </p:txBody>
      </p:sp>
      <p:sp>
        <p:nvSpPr>
          <p:cNvPr id="13315" name="Content Placeholder 5"/>
          <p:cNvSpPr>
            <a:spLocks noGrp="1"/>
          </p:cNvSpPr>
          <p:nvPr>
            <p:ph idx="1"/>
          </p:nvPr>
        </p:nvSpPr>
        <p:spPr>
          <a:xfrm>
            <a:off x="457200" y="1466715"/>
            <a:ext cx="4860388" cy="46704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600" dirty="0"/>
              <a:t>This problem is surprisingly more complex than what it may initially appear. If we only have normal data, then we have to effectively train a classifier with only data from one class. </a:t>
            </a:r>
          </a:p>
          <a:p>
            <a:pPr marL="0" indent="0">
              <a:buNone/>
            </a:pPr>
            <a:endParaRPr lang="en-US" altLang="en-US" sz="2600" dirty="0"/>
          </a:p>
          <a:p>
            <a:pPr marL="0" indent="0">
              <a:buNone/>
            </a:pPr>
            <a:r>
              <a:rPr lang="en-US" altLang="en-US" sz="2600" dirty="0"/>
              <a:t>There are many approaches, and this is currently an unsolved problem</a:t>
            </a:r>
          </a:p>
        </p:txBody>
      </p:sp>
      <p:pic>
        <p:nvPicPr>
          <p:cNvPr id="1028" name="Picture 4" descr="Sensors | Free Full-Text | Unsupervised Anomaly Detection for IoT-Based  Multivariate Time Series: Existing Solutions, Performance Analysis and  Future Directions">
            <a:extLst>
              <a:ext uri="{FF2B5EF4-FFF2-40B4-BE49-F238E27FC236}">
                <a16:creationId xmlns:a16="http://schemas.microsoft.com/office/drawing/2014/main" id="{D4EA6D44-2BD6-E64A-6751-CE9AE35AA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7588" y="2504049"/>
            <a:ext cx="3289339" cy="248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5077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Title 4"/>
          <p:cNvSpPr>
            <a:spLocks noGrp="1"/>
          </p:cNvSpPr>
          <p:nvPr>
            <p:ph type="title"/>
          </p:nvPr>
        </p:nvSpPr>
        <p:spPr>
          <a:xfrm>
            <a:off x="457200" y="221542"/>
            <a:ext cx="8229600" cy="91794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Non Deep Learning</a:t>
            </a:r>
          </a:p>
        </p:txBody>
      </p:sp>
      <p:sp>
        <p:nvSpPr>
          <p:cNvPr id="13315" name="Content Placeholder 5"/>
          <p:cNvSpPr>
            <a:spLocks noGrp="1"/>
          </p:cNvSpPr>
          <p:nvPr>
            <p:ph idx="1"/>
          </p:nvPr>
        </p:nvSpPr>
        <p:spPr>
          <a:xfrm>
            <a:off x="457200" y="1466715"/>
            <a:ext cx="4860388" cy="46704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600" dirty="0"/>
              <a:t>Sometimes it’s worth trying machine learning techniques such as local outlier factor and isolation forests for simpler tasks like tabular data, since they only take a few minutes to setup and train and often excel at this type of task. </a:t>
            </a:r>
          </a:p>
        </p:txBody>
      </p:sp>
      <p:pic>
        <p:nvPicPr>
          <p:cNvPr id="4098" name="Picture 2" descr="Isolation forest - Wikipedia">
            <a:extLst>
              <a:ext uri="{FF2B5EF4-FFF2-40B4-BE49-F238E27FC236}">
                <a16:creationId xmlns:a16="http://schemas.microsoft.com/office/drawing/2014/main" id="{F5CB1946-4084-56A1-3CA1-51C8F26DE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0341" y="2036298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2386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51967-A2B0-D10C-203E-1472D2E0D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Reconstruction Based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7BA4F-CC80-CD67-04FC-E0EB45FE1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745" y="3573194"/>
            <a:ext cx="8693833" cy="2732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most common deep learning base approach is reconstruction based. This approach leverages the phenomenon where neural networks tend to perform better in inference when given data with a distribution similar to the training data distribution.</a:t>
            </a:r>
          </a:p>
          <a:p>
            <a:pPr marL="0" indent="0">
              <a:buNone/>
            </a:pPr>
            <a:r>
              <a:rPr lang="en-US" dirty="0"/>
              <a:t>You may have experienced this when generating data using a VAE</a:t>
            </a:r>
          </a:p>
        </p:txBody>
      </p:sp>
      <p:pic>
        <p:nvPicPr>
          <p:cNvPr id="2052" name="Picture 4" descr="What is Anomaly Detection? | Anodot">
            <a:extLst>
              <a:ext uri="{FF2B5EF4-FFF2-40B4-BE49-F238E27FC236}">
                <a16:creationId xmlns:a16="http://schemas.microsoft.com/office/drawing/2014/main" id="{498C046C-B10C-DF71-1584-0B1F8D5C1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221" y="1372026"/>
            <a:ext cx="6177622" cy="2056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8050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6D314-C318-C149-A19D-85266CDF4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Title 4">
            <a:extLst>
              <a:ext uri="{FF2B5EF4-FFF2-40B4-BE49-F238E27FC236}">
                <a16:creationId xmlns:a16="http://schemas.microsoft.com/office/drawing/2014/main" id="{3297E430-ED72-8595-E4AA-8A13BE6F4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1542"/>
            <a:ext cx="8229600" cy="91794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Reconstruction Based</a:t>
            </a:r>
          </a:p>
        </p:txBody>
      </p:sp>
      <p:sp>
        <p:nvSpPr>
          <p:cNvPr id="13315" name="Content Placeholder 5">
            <a:extLst>
              <a:ext uri="{FF2B5EF4-FFF2-40B4-BE49-F238E27FC236}">
                <a16:creationId xmlns:a16="http://schemas.microsoft.com/office/drawing/2014/main" id="{3BD635AF-89DB-37A0-A2D4-617931E51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66715"/>
            <a:ext cx="4665608" cy="46704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sz="2600" dirty="0"/>
              <a:t>Autoencoders are the perfect candidate for this, as they require no labels to train.</a:t>
            </a:r>
          </a:p>
          <a:p>
            <a:pPr marL="0" indent="0">
              <a:buNone/>
            </a:pPr>
            <a:endParaRPr lang="en-US" altLang="en-US" sz="2600" dirty="0"/>
          </a:p>
          <a:p>
            <a:pPr marL="0" indent="0">
              <a:buNone/>
            </a:pPr>
            <a:r>
              <a:rPr lang="en-US" altLang="en-US" sz="2600" dirty="0"/>
              <a:t>We can train the autoencoder on the normal data, and measure the reconstruction error during inference.</a:t>
            </a:r>
          </a:p>
          <a:p>
            <a:pPr marL="0" indent="0">
              <a:buNone/>
            </a:pPr>
            <a:endParaRPr lang="en-US" altLang="en-US" sz="2600" dirty="0"/>
          </a:p>
          <a:p>
            <a:pPr marL="0" indent="0">
              <a:buNone/>
            </a:pPr>
            <a:r>
              <a:rPr lang="en-US" altLang="en-US" sz="2600" dirty="0"/>
              <a:t>Due to this phenomenon, it will perform worse as the inference distribution strays further away from the training distribution</a:t>
            </a:r>
          </a:p>
          <a:p>
            <a:pPr marL="0" indent="0">
              <a:buNone/>
            </a:pPr>
            <a:endParaRPr lang="en-US" altLang="en-US" sz="2600" dirty="0"/>
          </a:p>
          <a:p>
            <a:pPr marL="0" indent="0">
              <a:buNone/>
            </a:pPr>
            <a:endParaRPr lang="en-US" altLang="en-US" sz="2600" dirty="0"/>
          </a:p>
        </p:txBody>
      </p:sp>
      <p:pic>
        <p:nvPicPr>
          <p:cNvPr id="2050" name="Picture 2" descr="Latent and Embedding Space | Baeldung on Computer Science">
            <a:extLst>
              <a:ext uri="{FF2B5EF4-FFF2-40B4-BE49-F238E27FC236}">
                <a16:creationId xmlns:a16="http://schemas.microsoft.com/office/drawing/2014/main" id="{3CF0F543-AD4B-4945-2075-30219EF86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2808" y="1983703"/>
            <a:ext cx="4021192" cy="3636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3292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533F6-B5AD-8C17-81EB-B0B45B5D9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Title 4">
            <a:extLst>
              <a:ext uri="{FF2B5EF4-FFF2-40B4-BE49-F238E27FC236}">
                <a16:creationId xmlns:a16="http://schemas.microsoft.com/office/drawing/2014/main" id="{FC25F7E1-A674-7A2B-8C78-1CCEE833D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1542"/>
            <a:ext cx="8229600" cy="91794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Reconstruction Based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33B924-0BB7-8DCD-311E-13A98233AC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49" b="2973"/>
          <a:stretch>
            <a:fillRect/>
          </a:stretch>
        </p:blipFill>
        <p:spPr>
          <a:xfrm>
            <a:off x="309490" y="1688123"/>
            <a:ext cx="8229600" cy="429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705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C38BF-5226-54ED-6DFE-1F065C7C3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Anomaly Detection 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A91EB-DC61-E4EC-ECD3-75E006ED5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You have been hired by a company to develop a tool that can identify anomalies in their robot through the sensor measurements</a:t>
            </a:r>
          </a:p>
          <a:p>
            <a:r>
              <a:rPr lang="it-IT" dirty="0"/>
              <a:t>Problem: There are only 4 recorded anomalies, no annotations</a:t>
            </a:r>
          </a:p>
          <a:p>
            <a:r>
              <a:rPr lang="it-IT" dirty="0"/>
              <a:t>Build a reconstruction based anomaly detection model</a:t>
            </a:r>
          </a:p>
          <a:p>
            <a:r>
              <a:rPr lang="it-IT" dirty="0"/>
              <a:t>Train it on normal data and see if you are able to find something in the anomalous run of the robot</a:t>
            </a:r>
          </a:p>
        </p:txBody>
      </p:sp>
    </p:spTree>
    <p:extLst>
      <p:ext uri="{BB962C8B-B14F-4D97-AF65-F5344CB8AC3E}">
        <p14:creationId xmlns:p14="http://schemas.microsoft.com/office/powerpoint/2010/main" val="4074095269"/>
      </p:ext>
    </p:extLst>
  </p:cSld>
  <p:clrMapOvr>
    <a:masterClrMapping/>
  </p:clrMapOvr>
</p:sld>
</file>

<file path=ppt/theme/theme1.xml><?xml version="1.0" encoding="utf-8"?>
<a:theme xmlns:a="http://schemas.openxmlformats.org/drawingml/2006/main" name="1_Meeting Bonani Feb201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solidFill>
          <a:schemeClr val="bg2"/>
        </a:solidFill>
      </a:spPr>
      <a:bodyPr wrap="none" rtlCol="0">
        <a:spAutoFit/>
      </a:bodyPr>
      <a:lstStyle>
        <a:defPPr>
          <a:defRPr sz="20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14660</TotalTime>
  <Words>346</Words>
  <Application>Microsoft Office PowerPoint</Application>
  <PresentationFormat>On-screen Show (4:3)</PresentationFormat>
  <Paragraphs>34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1_Meeting Bonani Feb2012</vt:lpstr>
      <vt:lpstr>ML in Applications</vt:lpstr>
      <vt:lpstr>Anomaly Detection</vt:lpstr>
      <vt:lpstr>Anomaly Detection</vt:lpstr>
      <vt:lpstr>Anomaly Detection</vt:lpstr>
      <vt:lpstr>Non Deep Learning</vt:lpstr>
      <vt:lpstr>Reconstruction Based</vt:lpstr>
      <vt:lpstr>Reconstruction Based</vt:lpstr>
      <vt:lpstr>Reconstruction Based</vt:lpstr>
      <vt:lpstr>Anomaly Detection Lab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Santa Di Cataldo</dc:creator>
  <cp:lastModifiedBy>Alessio Mascolini</cp:lastModifiedBy>
  <cp:revision>130</cp:revision>
  <cp:lastPrinted>2017-05-29T09:35:07Z</cp:lastPrinted>
  <dcterms:created xsi:type="dcterms:W3CDTF">2017-04-10T12:56:42Z</dcterms:created>
  <dcterms:modified xsi:type="dcterms:W3CDTF">2026-05-07T05:24:05Z</dcterms:modified>
</cp:coreProperties>
</file>