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11"/>
  </p:notesMasterIdLst>
  <p:sldIdLst>
    <p:sldId id="434" r:id="rId2"/>
    <p:sldId id="258" r:id="rId3"/>
    <p:sldId id="449" r:id="rId4"/>
    <p:sldId id="452" r:id="rId5"/>
    <p:sldId id="451" r:id="rId6"/>
    <p:sldId id="450" r:id="rId7"/>
    <p:sldId id="453" r:id="rId8"/>
    <p:sldId id="454" r:id="rId9"/>
    <p:sldId id="44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00" autoAdjust="0"/>
    <p:restoredTop sz="83673"/>
  </p:normalViewPr>
  <p:slideViewPr>
    <p:cSldViewPr snapToGrid="0" snapToObjects="1">
      <p:cViewPr varScale="1">
        <p:scale>
          <a:sx n="136" d="100"/>
          <a:sy n="136" d="100"/>
        </p:scale>
        <p:origin x="556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FEFBD-B2F2-B14C-AD35-564F360BAA0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E557F-1D95-1843-BA81-09134688E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0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E557F-1D95-1843-BA81-09134688EC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17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E557F-1D95-1843-BA81-09134688EC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39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E557F-1D95-1843-BA81-09134688EC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5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E557F-1D95-1843-BA81-09134688EC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0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68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12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400801"/>
            <a:ext cx="91440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ML in Applications</a:t>
            </a:r>
            <a:endParaRPr lang="it-IT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09866"/>
          </a:xfrm>
        </p:spPr>
        <p:txBody>
          <a:bodyPr/>
          <a:lstStyle>
            <a:lvl1pPr>
              <a:lnSpc>
                <a:spcPct val="85000"/>
              </a:lnSpc>
              <a:defRPr/>
            </a:lvl1pPr>
            <a:lvl2pPr>
              <a:lnSpc>
                <a:spcPct val="85000"/>
              </a:lnSpc>
              <a:defRPr/>
            </a:lvl2pPr>
            <a:lvl3pPr>
              <a:lnSpc>
                <a:spcPct val="85000"/>
              </a:lnSpc>
              <a:defRPr/>
            </a:lvl3pPr>
            <a:lvl4pPr>
              <a:lnSpc>
                <a:spcPct val="85000"/>
              </a:lnSpc>
              <a:defRPr/>
            </a:lvl4pPr>
            <a:lvl5pPr>
              <a:lnSpc>
                <a:spcPct val="8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32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032913" cy="488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7F78-57DB-4877-ACE4-A1E3B418FD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35691" y="1297674"/>
            <a:ext cx="4032913" cy="488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42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100B0-E227-42C2-BF93-3C44C37280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8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rowhead 1 column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799891" y="718279"/>
            <a:ext cx="7444935" cy="624590"/>
          </a:xfrm>
          <a:prstGeom prst="rect">
            <a:avLst/>
          </a:prstGeom>
        </p:spPr>
        <p:txBody>
          <a:bodyPr vert="horz"/>
          <a:lstStyle>
            <a:lvl1pPr algn="l">
              <a:defRPr sz="3600" baseline="0"/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10" hasCustomPrompt="1"/>
          </p:nvPr>
        </p:nvSpPr>
        <p:spPr>
          <a:xfrm>
            <a:off x="799891" y="1422183"/>
            <a:ext cx="7444935" cy="4623851"/>
          </a:xfrm>
          <a:prstGeom prst="rect">
            <a:avLst/>
          </a:prstGeom>
        </p:spPr>
        <p:txBody>
          <a:bodyPr vert="horz"/>
          <a:lstStyle>
            <a:lvl1pPr marL="268288" indent="-268288">
              <a:buFontTx/>
              <a:buNone/>
              <a:defRPr sz="2000"/>
            </a:lvl1pPr>
            <a:lvl2pPr marL="742950" indent="-285750">
              <a:buFont typeface="Arial"/>
              <a:buChar char="•"/>
              <a:defRPr sz="1800"/>
            </a:lvl2pPr>
            <a:lvl3pPr>
              <a:defRPr sz="1600"/>
            </a:lvl3pPr>
            <a:lvl4pPr marL="1600200" indent="-228600">
              <a:buFont typeface="Arial"/>
              <a:buChar char="•"/>
              <a:defRPr sz="1400"/>
            </a:lvl4pPr>
            <a:lvl5pPr marL="2057400" indent="-228600">
              <a:buFont typeface="Arial"/>
              <a:buChar char="•"/>
              <a:defRPr sz="1200" baseline="0"/>
            </a:lvl5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edit</a:t>
            </a:r>
            <a:r>
              <a:rPr lang="sv-SE" dirty="0"/>
              <a:t> text</a:t>
            </a:r>
          </a:p>
          <a:p>
            <a:pPr lvl="1"/>
            <a:r>
              <a:rPr lang="sv-SE" dirty="0"/>
              <a:t>Second </a:t>
            </a:r>
            <a:r>
              <a:rPr lang="sv-SE" dirty="0" err="1"/>
              <a:t>level</a:t>
            </a:r>
            <a:endParaRPr lang="sv-SE" dirty="0"/>
          </a:p>
          <a:p>
            <a:pPr lvl="2"/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lvl="3"/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lvl="4"/>
            <a:r>
              <a:rPr lang="sv-SE" dirty="0" err="1"/>
              <a:t>Fifth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</p:txBody>
      </p:sp>
      <p:sp>
        <p:nvSpPr>
          <p:cNvPr id="3" name="Platshållare för bild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939B3E-C388-DC4F-B31A-4B360DF27421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5" name="textruta 4"/>
          <p:cNvSpPr txBox="1"/>
          <p:nvPr userDrawn="1"/>
        </p:nvSpPr>
        <p:spPr>
          <a:xfrm>
            <a:off x="374549" y="6201910"/>
            <a:ext cx="3966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800" dirty="0" err="1">
                <a:solidFill>
                  <a:prstClr val="black"/>
                </a:solidFill>
              </a:rPr>
              <a:t>www.arrowhead.eu</a:t>
            </a:r>
            <a:endParaRPr lang="sv-SE" sz="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89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6635"/>
            <a:ext cx="8229600" cy="92636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4776"/>
            <a:ext cx="8229600" cy="48858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B2C4A-8B7E-446C-8D8F-EC128F0F36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7324" y="6479227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8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ransition spd="slow">
    <p:wipe dir="r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it-IT" sz="36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7772400" cy="2228851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lvl="0"/>
            <a:r>
              <a:rPr lang="en-GB" i="1" dirty="0">
                <a:solidFill>
                  <a:schemeClr val="tx2">
                    <a:lumMod val="50000"/>
                  </a:schemeClr>
                </a:solidFill>
              </a:rPr>
              <a:t>ML </a:t>
            </a:r>
            <a:r>
              <a:rPr lang="en-GB" i="1">
                <a:solidFill>
                  <a:schemeClr val="tx2">
                    <a:lumMod val="50000"/>
                  </a:schemeClr>
                </a:solidFill>
              </a:rPr>
              <a:t>in Applications</a:t>
            </a:r>
            <a:endParaRPr lang="it-IT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255" y="3603068"/>
            <a:ext cx="6463145" cy="1363281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endParaRPr lang="en-US" sz="2400" b="1" i="1" dirty="0">
              <a:solidFill>
                <a:schemeClr val="accent2">
                  <a:lumMod val="75000"/>
                </a:schemeClr>
              </a:solidFill>
              <a:latin typeface="Cambria" pitchFamily="18" charset="0"/>
            </a:endParaRPr>
          </a:p>
          <a:p>
            <a:r>
              <a:rPr lang="en-US" sz="2400" b="1" i="1" dirty="0" err="1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Dipartimento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 di Automatica e Informatica </a:t>
            </a:r>
          </a:p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Politecnico di Torino, Torino, ITALY</a:t>
            </a:r>
            <a:endParaRPr lang="it-IT" sz="2400" b="1" i="1" dirty="0">
              <a:solidFill>
                <a:schemeClr val="accent2">
                  <a:lumMod val="75000"/>
                </a:schemeClr>
              </a:solidFill>
              <a:latin typeface="Cambria" pitchFamily="18" charset="0"/>
            </a:endParaRPr>
          </a:p>
        </p:txBody>
      </p:sp>
      <p:pic>
        <p:nvPicPr>
          <p:cNvPr id="18434" name="Picture 2" descr="Logo_Poli_trasparent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5035624"/>
            <a:ext cx="1529588" cy="15245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299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734" y="1917405"/>
            <a:ext cx="7772400" cy="2228851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it-IT" dirty="0"/>
              <a:t>Diffusion Models</a:t>
            </a:r>
          </a:p>
        </p:txBody>
      </p:sp>
    </p:spTree>
    <p:extLst>
      <p:ext uri="{BB962C8B-B14F-4D97-AF65-F5344CB8AC3E}">
        <p14:creationId xmlns:p14="http://schemas.microsoft.com/office/powerpoint/2010/main" val="332509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Diffusion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Like the VAE, it’s a way to reparametrize the generation problem as only having one solution, allowing the use of MSE as loss function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FBECE2-F6BD-F08E-752A-0F4730CFBF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33" b="23446"/>
          <a:stretch/>
        </p:blipFill>
        <p:spPr bwMode="auto">
          <a:xfrm>
            <a:off x="0" y="2820573"/>
            <a:ext cx="9144000" cy="282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04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Diffusion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It does this by dividing the inference process into many tiny steps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E4FC2F-66A1-71CE-E118-B77AE3574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33" b="23446"/>
          <a:stretch/>
        </p:blipFill>
        <p:spPr bwMode="auto">
          <a:xfrm>
            <a:off x="0" y="2820573"/>
            <a:ext cx="9144000" cy="282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34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Diffusion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It does this by dividing the inference process into many tiny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81072-6199-881C-2443-F1506CE66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4" y="2671086"/>
            <a:ext cx="8145012" cy="34009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2FB2615-857A-C146-2321-0D7670DF1CC4}"/>
              </a:ext>
            </a:extLst>
          </p:cNvPr>
          <p:cNvSpPr/>
          <p:nvPr/>
        </p:nvSpPr>
        <p:spPr>
          <a:xfrm>
            <a:off x="1406769" y="3749040"/>
            <a:ext cx="133643" cy="1406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583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 Diffusion -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2" y="3770142"/>
            <a:ext cx="4958862" cy="21242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We’re going to use v-diffusion</a:t>
            </a:r>
          </a:p>
          <a:p>
            <a:pPr marL="0" indent="0">
              <a:buNone/>
            </a:pPr>
            <a:r>
              <a:rPr lang="it-IT" dirty="0"/>
              <a:t>In v-diffusion the noising process is done on a circle, to ensure constant power through the whole process</a:t>
            </a:r>
          </a:p>
          <a:p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00842-462F-5366-28FB-7B175F6D4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021" y="1213369"/>
            <a:ext cx="2516482" cy="2431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01FBB6-01A3-9C62-8FDE-2CF1AB55F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846" y="3770142"/>
            <a:ext cx="3774299" cy="219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6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 Diffusion - Backward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2" y="3770142"/>
            <a:ext cx="8525022" cy="21242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We sample a random t, and perform the forward step</a:t>
            </a:r>
          </a:p>
          <a:p>
            <a:pPr marL="0" indent="0">
              <a:buNone/>
            </a:pPr>
            <a:r>
              <a:rPr lang="it-IT" dirty="0"/>
              <a:t>A point is sampled from the target distribution</a:t>
            </a:r>
          </a:p>
          <a:p>
            <a:pPr marL="0" indent="0">
              <a:buNone/>
            </a:pPr>
            <a:r>
              <a:rPr lang="it-IT" dirty="0"/>
              <a:t>The model tries to predict the sampled point from the target distribution</a:t>
            </a:r>
          </a:p>
          <a:p>
            <a:pPr marL="0" indent="0">
              <a:buNone/>
            </a:pPr>
            <a:r>
              <a:rPr lang="it-IT" dirty="0"/>
              <a:t>The loss function is once again MSE</a:t>
            </a:r>
          </a:p>
          <a:p>
            <a:endParaRPr lang="it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0E8392-4552-8457-C039-C921771E2D01}"/>
              </a:ext>
            </a:extLst>
          </p:cNvPr>
          <p:cNvSpPr/>
          <p:nvPr/>
        </p:nvSpPr>
        <p:spPr>
          <a:xfrm>
            <a:off x="654148" y="1914647"/>
            <a:ext cx="1737360" cy="439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Real Sample</a:t>
            </a:r>
            <a:endParaRPr lang="it-IT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9D2FF1-0B17-47BF-53F5-C185A3890B3C}"/>
              </a:ext>
            </a:extLst>
          </p:cNvPr>
          <p:cNvSpPr/>
          <p:nvPr/>
        </p:nvSpPr>
        <p:spPr>
          <a:xfrm>
            <a:off x="3889127" y="1609653"/>
            <a:ext cx="2260209" cy="439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Sample+Noise</a:t>
            </a:r>
            <a:endParaRPr lang="it-IT" b="1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32EAEEA-5E6A-C3F7-3F0E-C080986571C4}"/>
              </a:ext>
            </a:extLst>
          </p:cNvPr>
          <p:cNvCxnSpPr>
            <a:cxnSpLocks/>
            <a:stCxn id="4" idx="0"/>
            <a:endCxn id="6" idx="1"/>
          </p:cNvCxnSpPr>
          <p:nvPr/>
        </p:nvCxnSpPr>
        <p:spPr>
          <a:xfrm rot="5400000" flipH="1" flipV="1">
            <a:off x="2663384" y="688905"/>
            <a:ext cx="85186" cy="2366299"/>
          </a:xfrm>
          <a:prstGeom prst="bentConnector2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4223AD-0AF2-389F-C705-1565826F5260}"/>
              </a:ext>
            </a:extLst>
          </p:cNvPr>
          <p:cNvSpPr txBox="1"/>
          <p:nvPr/>
        </p:nvSpPr>
        <p:spPr>
          <a:xfrm>
            <a:off x="1546856" y="1270691"/>
            <a:ext cx="2342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Forward (random 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41FF4-0529-E596-C5AE-8FEAA1B6DAC6}"/>
              </a:ext>
            </a:extLst>
          </p:cNvPr>
          <p:cNvSpPr txBox="1"/>
          <p:nvPr/>
        </p:nvSpPr>
        <p:spPr>
          <a:xfrm>
            <a:off x="5019232" y="2102743"/>
            <a:ext cx="2342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Model Prediction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85739A-D44D-78DA-0794-B3638E412B96}"/>
              </a:ext>
            </a:extLst>
          </p:cNvPr>
          <p:cNvSpPr/>
          <p:nvPr/>
        </p:nvSpPr>
        <p:spPr>
          <a:xfrm>
            <a:off x="654146" y="2690948"/>
            <a:ext cx="1737360" cy="439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MSE</a:t>
            </a:r>
            <a:endParaRPr lang="it-IT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0B7003-73F0-69BB-8B79-F4A465340578}"/>
              </a:ext>
            </a:extLst>
          </p:cNvPr>
          <p:cNvCxnSpPr>
            <a:stCxn id="4" idx="2"/>
            <a:endCxn id="19" idx="0"/>
          </p:cNvCxnSpPr>
          <p:nvPr/>
        </p:nvCxnSpPr>
        <p:spPr>
          <a:xfrm flipH="1">
            <a:off x="1522826" y="2354262"/>
            <a:ext cx="2" cy="3366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6879C1E-BBAA-97C7-231A-5930621CEAAA}"/>
              </a:ext>
            </a:extLst>
          </p:cNvPr>
          <p:cNvSpPr/>
          <p:nvPr/>
        </p:nvSpPr>
        <p:spPr>
          <a:xfrm>
            <a:off x="3713866" y="2690947"/>
            <a:ext cx="2610732" cy="439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Predicted Sample</a:t>
            </a:r>
            <a:endParaRPr lang="it-IT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49B59B-4176-5218-25E0-811420DEFC51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5019232" y="2049268"/>
            <a:ext cx="0" cy="6416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9994E91-F1A6-2033-5DBC-5D118252A853}"/>
              </a:ext>
            </a:extLst>
          </p:cNvPr>
          <p:cNvCxnSpPr>
            <a:stCxn id="26" idx="1"/>
            <a:endCxn id="19" idx="3"/>
          </p:cNvCxnSpPr>
          <p:nvPr/>
        </p:nvCxnSpPr>
        <p:spPr>
          <a:xfrm flipH="1">
            <a:off x="2391506" y="2910755"/>
            <a:ext cx="132236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724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 Diffusion -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55" y="4839286"/>
            <a:ext cx="8609428" cy="1375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Generating new samples works differently from training</a:t>
            </a:r>
          </a:p>
          <a:p>
            <a:pPr marL="0" indent="0">
              <a:buNone/>
            </a:pPr>
            <a:r>
              <a:rPr lang="it-IT" dirty="0"/>
              <a:t>We pick a number of steps, then we slowly transform the source distribution into the target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5D36E-C2FC-EBFF-3813-9C15E32EB688}"/>
              </a:ext>
            </a:extLst>
          </p:cNvPr>
          <p:cNvSpPr/>
          <p:nvPr/>
        </p:nvSpPr>
        <p:spPr>
          <a:xfrm>
            <a:off x="6690362" y="2278967"/>
            <a:ext cx="1842868" cy="4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Noise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069BE-837F-CDE3-0100-DC13C2CB0D87}"/>
              </a:ext>
            </a:extLst>
          </p:cNvPr>
          <p:cNvSpPr/>
          <p:nvPr/>
        </p:nvSpPr>
        <p:spPr>
          <a:xfrm>
            <a:off x="444307" y="2278967"/>
            <a:ext cx="1842868" cy="4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AC8A-1055-C86E-A1C3-812081E29557}"/>
              </a:ext>
            </a:extLst>
          </p:cNvPr>
          <p:cNvSpPr/>
          <p:nvPr/>
        </p:nvSpPr>
        <p:spPr>
          <a:xfrm>
            <a:off x="2526325" y="2278967"/>
            <a:ext cx="907367" cy="4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0,8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BFFE2-42F6-A698-AFDC-E55E346368F8}"/>
              </a:ext>
            </a:extLst>
          </p:cNvPr>
          <p:cNvSpPr/>
          <p:nvPr/>
        </p:nvSpPr>
        <p:spPr>
          <a:xfrm>
            <a:off x="5684523" y="2278967"/>
            <a:ext cx="766687" cy="4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0,2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D8D60-1407-7F2C-345A-52047143D714}"/>
              </a:ext>
            </a:extLst>
          </p:cNvPr>
          <p:cNvSpPr/>
          <p:nvPr/>
        </p:nvSpPr>
        <p:spPr>
          <a:xfrm>
            <a:off x="3722082" y="2278967"/>
            <a:ext cx="766687" cy="4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0,6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BE0BF-0BB0-3032-B956-764560BE52C5}"/>
              </a:ext>
            </a:extLst>
          </p:cNvPr>
          <p:cNvSpPr/>
          <p:nvPr/>
        </p:nvSpPr>
        <p:spPr>
          <a:xfrm>
            <a:off x="4678684" y="2278967"/>
            <a:ext cx="766687" cy="4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0,4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E3DCB6C-356D-2122-E922-1B920AE07B32}"/>
              </a:ext>
            </a:extLst>
          </p:cNvPr>
          <p:cNvCxnSpPr>
            <a:stCxn id="4" idx="2"/>
            <a:endCxn id="6" idx="2"/>
          </p:cNvCxnSpPr>
          <p:nvPr/>
        </p:nvCxnSpPr>
        <p:spPr>
          <a:xfrm rot="5400000">
            <a:off x="4488769" y="-365758"/>
            <a:ext cx="12700" cy="6246055"/>
          </a:xfrm>
          <a:prstGeom prst="bentConnector3">
            <a:avLst>
              <a:gd name="adj1" fmla="val 8003079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72981C4-3E26-73C4-A974-90D27B8F2513}"/>
              </a:ext>
            </a:extLst>
          </p:cNvPr>
          <p:cNvCxnSpPr>
            <a:stCxn id="6" idx="0"/>
            <a:endCxn id="8" idx="0"/>
          </p:cNvCxnSpPr>
          <p:nvPr/>
        </p:nvCxnSpPr>
        <p:spPr>
          <a:xfrm rot="5400000" flipH="1" flipV="1">
            <a:off x="3716804" y="-72096"/>
            <a:ext cx="12700" cy="4702126"/>
          </a:xfrm>
          <a:prstGeom prst="bentConnector3">
            <a:avLst>
              <a:gd name="adj1" fmla="val 628615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0BED574-998C-26B3-A406-7A37BEF29A68}"/>
              </a:ext>
            </a:extLst>
          </p:cNvPr>
          <p:cNvCxnSpPr>
            <a:stCxn id="11" idx="2"/>
            <a:endCxn id="6" idx="2"/>
          </p:cNvCxnSpPr>
          <p:nvPr/>
        </p:nvCxnSpPr>
        <p:spPr>
          <a:xfrm rot="5400000">
            <a:off x="3213885" y="909126"/>
            <a:ext cx="12700" cy="3696287"/>
          </a:xfrm>
          <a:prstGeom prst="bentConnector3">
            <a:avLst>
              <a:gd name="adj1" fmla="val 490154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EFCFA81-6A01-3B55-1F19-EC3983669B28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 flipH="1">
            <a:off x="2735830" y="1387673"/>
            <a:ext cx="6348" cy="2732845"/>
          </a:xfrm>
          <a:prstGeom prst="bentConnector4">
            <a:avLst>
              <a:gd name="adj1" fmla="val -6925268"/>
              <a:gd name="adj2" fmla="val 10025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8E7BA79-D81D-A224-947E-6879EF8E3A51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 flipH="1">
            <a:off x="2164843" y="1942103"/>
            <a:ext cx="3172" cy="1627161"/>
          </a:xfrm>
          <a:prstGeom prst="bentConnector4">
            <a:avLst>
              <a:gd name="adj1" fmla="val -7206810"/>
              <a:gd name="adj2" fmla="val 97659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5A99A05-D86B-7239-7D8C-3B204E2118C5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 flipH="1">
            <a:off x="3705596" y="394999"/>
            <a:ext cx="9523" cy="4715018"/>
          </a:xfrm>
          <a:prstGeom prst="bentConnector4">
            <a:avLst>
              <a:gd name="adj1" fmla="val -8161735"/>
              <a:gd name="adj2" fmla="val 9986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FE864C6-7126-D433-90DA-9A483E2ED314}"/>
              </a:ext>
            </a:extLst>
          </p:cNvPr>
          <p:cNvCxnSpPr>
            <a:cxnSpLocks/>
            <a:endCxn id="11" idx="0"/>
          </p:cNvCxnSpPr>
          <p:nvPr/>
        </p:nvCxnSpPr>
        <p:spPr>
          <a:xfrm flipV="1">
            <a:off x="1372581" y="2278967"/>
            <a:ext cx="3689447" cy="19051"/>
          </a:xfrm>
          <a:prstGeom prst="bentConnector4">
            <a:avLst>
              <a:gd name="adj1" fmla="val 3"/>
              <a:gd name="adj2" fmla="val 3515207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4EDF265-F99B-DC86-5AB3-795E6DE59A68}"/>
              </a:ext>
            </a:extLst>
          </p:cNvPr>
          <p:cNvCxnSpPr>
            <a:cxnSpLocks/>
            <a:endCxn id="10" idx="0"/>
          </p:cNvCxnSpPr>
          <p:nvPr/>
        </p:nvCxnSpPr>
        <p:spPr>
          <a:xfrm flipV="1">
            <a:off x="1378932" y="2278967"/>
            <a:ext cx="2726494" cy="15877"/>
          </a:xfrm>
          <a:prstGeom prst="bentConnector4">
            <a:avLst>
              <a:gd name="adj1" fmla="val -371"/>
              <a:gd name="adj2" fmla="val 3311904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FD13781-AA2C-3BFB-2CA9-C3ABCC10D095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1378933" y="2278967"/>
            <a:ext cx="1601076" cy="41278"/>
          </a:xfrm>
          <a:prstGeom prst="bentConnector4">
            <a:avLst>
              <a:gd name="adj1" fmla="val -632"/>
              <a:gd name="adj2" fmla="val 977569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19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12CC66-9B53-288F-6C33-2E878818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14" y="1695333"/>
            <a:ext cx="1874521" cy="18745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10F6FD-6BFF-CB5D-025D-C295BDEF3E5D}"/>
              </a:ext>
            </a:extLst>
          </p:cNvPr>
          <p:cNvSpPr txBox="1"/>
          <p:nvPr/>
        </p:nvSpPr>
        <p:spPr>
          <a:xfrm>
            <a:off x="1230923" y="1295223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1 step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626042-C59E-4933-0DCF-B47BB7D7F36C}"/>
              </a:ext>
            </a:extLst>
          </p:cNvPr>
          <p:cNvSpPr txBox="1"/>
          <p:nvPr/>
        </p:nvSpPr>
        <p:spPr>
          <a:xfrm>
            <a:off x="3894406" y="1295223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5 steps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53C4B-5A91-013A-5143-78781474864A}"/>
              </a:ext>
            </a:extLst>
          </p:cNvPr>
          <p:cNvSpPr txBox="1"/>
          <p:nvPr/>
        </p:nvSpPr>
        <p:spPr>
          <a:xfrm>
            <a:off x="6689187" y="1278810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10 steps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282C6A-5796-7CEF-F94A-FAD2C12B7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502" y="1695333"/>
            <a:ext cx="1943687" cy="1943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863D1C-49A2-47F8-E844-EA68844C1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356" y="1695333"/>
            <a:ext cx="1943688" cy="1943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6ADCA3-C85B-9961-B1EC-A2BE0B451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8748" y="4088830"/>
            <a:ext cx="2284829" cy="2284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AFDD4-7CE3-1B62-CDF6-C056981ED02C}"/>
              </a:ext>
            </a:extLst>
          </p:cNvPr>
          <p:cNvSpPr txBox="1"/>
          <p:nvPr/>
        </p:nvSpPr>
        <p:spPr>
          <a:xfrm>
            <a:off x="2436055" y="3672472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20 steps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8527FC-C17F-07E6-4D74-3B615282E8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941" y="4088830"/>
            <a:ext cx="2284829" cy="22848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351833-1375-6CF9-78D3-310A42CE9767}"/>
              </a:ext>
            </a:extLst>
          </p:cNvPr>
          <p:cNvSpPr txBox="1"/>
          <p:nvPr/>
        </p:nvSpPr>
        <p:spPr>
          <a:xfrm>
            <a:off x="5717342" y="3672472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100 steps</a:t>
            </a:r>
          </a:p>
        </p:txBody>
      </p:sp>
    </p:spTree>
    <p:extLst>
      <p:ext uri="{BB962C8B-B14F-4D97-AF65-F5344CB8AC3E}">
        <p14:creationId xmlns:p14="http://schemas.microsoft.com/office/powerpoint/2010/main" val="886192027"/>
      </p:ext>
    </p:extLst>
  </p:cSld>
  <p:clrMapOvr>
    <a:masterClrMapping/>
  </p:clrMapOvr>
</p:sld>
</file>

<file path=ppt/theme/theme1.xml><?xml version="1.0" encoding="utf-8"?>
<a:theme xmlns:a="http://schemas.openxmlformats.org/drawingml/2006/main" name="1_Meeting Bonani Feb20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2"/>
        </a:solidFill>
      </a:spPr>
      <a:bodyPr wrap="none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14639</TotalTime>
  <Words>214</Words>
  <Application>Microsoft Office PowerPoint</Application>
  <PresentationFormat>On-screen Show (4:3)</PresentationFormat>
  <Paragraphs>46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1_Meeting Bonani Feb2012</vt:lpstr>
      <vt:lpstr>ML in Applications</vt:lpstr>
      <vt:lpstr>Diffusion Models</vt:lpstr>
      <vt:lpstr>Diffusion Models</vt:lpstr>
      <vt:lpstr>Diffusion Models</vt:lpstr>
      <vt:lpstr>Diffusion Models</vt:lpstr>
      <vt:lpstr>V Diffusion - Forward</vt:lpstr>
      <vt:lpstr>V Diffusion - Backward</vt:lpstr>
      <vt:lpstr>V Diffusion - Inference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Santa Di Cataldo</dc:creator>
  <cp:lastModifiedBy>Alessio Mascolini</cp:lastModifiedBy>
  <cp:revision>135</cp:revision>
  <cp:lastPrinted>2017-05-29T09:35:07Z</cp:lastPrinted>
  <dcterms:created xsi:type="dcterms:W3CDTF">2017-04-10T12:56:42Z</dcterms:created>
  <dcterms:modified xsi:type="dcterms:W3CDTF">2026-05-14T07:00:12Z</dcterms:modified>
</cp:coreProperties>
</file>